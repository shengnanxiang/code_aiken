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notesSlides/notesSlide4.xml" ContentType="application/vnd.openxmlformats-officedocument.presentationml.notesSlide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5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23"/>
  </p:notesMasterIdLst>
  <p:sldIdLst>
    <p:sldId id="257" r:id="rId3"/>
    <p:sldId id="15742572" r:id="rId4"/>
    <p:sldId id="15742573" r:id="rId5"/>
    <p:sldId id="15742574" r:id="rId6"/>
    <p:sldId id="15742570" r:id="rId7"/>
    <p:sldId id="15742575" r:id="rId8"/>
    <p:sldId id="15742571" r:id="rId9"/>
    <p:sldId id="15742516" r:id="rId10"/>
    <p:sldId id="15742534" r:id="rId11"/>
    <p:sldId id="15742537" r:id="rId12"/>
    <p:sldId id="15742547" r:id="rId13"/>
    <p:sldId id="15742548" r:id="rId14"/>
    <p:sldId id="15742532" r:id="rId15"/>
    <p:sldId id="15742522" r:id="rId16"/>
    <p:sldId id="15742502" r:id="rId17"/>
    <p:sldId id="15742568" r:id="rId18"/>
    <p:sldId id="15742563" r:id="rId19"/>
    <p:sldId id="15742565" r:id="rId20"/>
    <p:sldId id="15742566" r:id="rId21"/>
    <p:sldId id="15742564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58DABE-7953-4EB2-892B-65AD87674A66}" v="6" dt="2026-10-27T02:54:13.6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楠翔 盛" userId="8a22fe4ae455d837" providerId="LiveId" clId="{8BC36A76-E62C-4273-8582-FFB1BF23C538}"/>
    <pc:docChg chg="undo custSel addSld delSld modSld">
      <pc:chgData name="楠翔 盛" userId="8a22fe4ae455d837" providerId="LiveId" clId="{8BC36A76-E62C-4273-8582-FFB1BF23C538}" dt="2026-10-27T02:54:21.999" v="3830" actId="14734"/>
      <pc:docMkLst>
        <pc:docMk/>
      </pc:docMkLst>
      <pc:sldChg chg="addSp delSp modSp add mod">
        <pc:chgData name="楠翔 盛" userId="8a22fe4ae455d837" providerId="LiveId" clId="{8BC36A76-E62C-4273-8582-FFB1BF23C538}" dt="2026-10-27T02:17:12.028" v="3795" actId="208"/>
        <pc:sldMkLst>
          <pc:docMk/>
          <pc:sldMk cId="3009237883" sldId="15742570"/>
        </pc:sldMkLst>
        <pc:spChg chg="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4" creationId="{83F35BBC-E97E-B0B2-89F3-AAF169B84C35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15" creationId="{09B3F393-A44F-1FFA-61ED-C70F7E5E93D0}"/>
          </ac:spMkLst>
        </pc:spChg>
        <pc:spChg chg="mod">
          <ac:chgData name="楠翔 盛" userId="8a22fe4ae455d837" providerId="LiveId" clId="{8BC36A76-E62C-4273-8582-FFB1BF23C538}" dt="2026-10-23T04:07:37.629" v="2293" actId="20577"/>
          <ac:spMkLst>
            <pc:docMk/>
            <pc:sldMk cId="3009237883" sldId="15742570"/>
            <ac:spMk id="17" creationId="{77D68F75-ECBC-2EEE-DFD1-65598F72DF69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0" creationId="{D9103824-26EA-52F0-D45D-69CF7E362FA5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3" creationId="{79062689-C046-12E7-0CA5-55641DA8ABED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5" creationId="{6B9CAB80-6279-88B4-AA08-D0B329A82D7B}"/>
          </ac:spMkLst>
        </pc:spChg>
        <pc:spChg chg="add mod topLvl">
          <ac:chgData name="楠翔 盛" userId="8a22fe4ae455d837" providerId="LiveId" clId="{8BC36A76-E62C-4273-8582-FFB1BF23C538}" dt="2026-10-27T02:17:05.597" v="3794" actId="208"/>
          <ac:spMkLst>
            <pc:docMk/>
            <pc:sldMk cId="3009237883" sldId="15742570"/>
            <ac:spMk id="27" creationId="{E53BE85E-55FF-31A6-F085-C9611BDB6D17}"/>
          </ac:spMkLst>
        </pc:sp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29" creationId="{CF38BF30-1B01-6AB6-765B-E023D6EAFDEA}"/>
          </ac:cxnSpMkLst>
        </pc:cxn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30" creationId="{50B112E3-549B-D8D0-5CE1-38B76D7A4A25}"/>
          </ac:cxnSpMkLst>
        </pc:cxnChg>
        <pc:cxnChg chg="add mod">
          <ac:chgData name="楠翔 盛" userId="8a22fe4ae455d837" providerId="LiveId" clId="{8BC36A76-E62C-4273-8582-FFB1BF23C538}" dt="2026-10-27T02:17:12.028" v="3795" actId="208"/>
          <ac:cxnSpMkLst>
            <pc:docMk/>
            <pc:sldMk cId="3009237883" sldId="15742570"/>
            <ac:cxnSpMk id="33" creationId="{33662C3C-7BEB-B49A-B58A-E098EB7ABD8A}"/>
          </ac:cxnSpMkLst>
        </pc:cxnChg>
        <pc:cxnChg chg="add mod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39" creationId="{217C0D53-45E5-30EA-5834-FA927FF3C795}"/>
          </ac:cxnSpMkLst>
        </pc:cxnChg>
        <pc:cxnChg chg="add mod">
          <ac:chgData name="楠翔 盛" userId="8a22fe4ae455d837" providerId="LiveId" clId="{8BC36A76-E62C-4273-8582-FFB1BF23C538}" dt="2026-10-23T05:53:39.613" v="3141" actId="14100"/>
          <ac:cxnSpMkLst>
            <pc:docMk/>
            <pc:sldMk cId="3009237883" sldId="15742570"/>
            <ac:cxnSpMk id="41" creationId="{A637E427-B666-CA97-F54D-7D4F89D7BA84}"/>
          </ac:cxnSpMkLst>
        </pc:cxnChg>
        <pc:cxnChg chg="add mod topLvl">
          <ac:chgData name="楠翔 盛" userId="8a22fe4ae455d837" providerId="LiveId" clId="{8BC36A76-E62C-4273-8582-FFB1BF23C538}" dt="2026-10-27T02:17:05.597" v="3794" actId="208"/>
          <ac:cxnSpMkLst>
            <pc:docMk/>
            <pc:sldMk cId="3009237883" sldId="15742570"/>
            <ac:cxnSpMk id="46" creationId="{2E5DD2F1-934D-242C-089C-38D6DDFFCAAC}"/>
          </ac:cxnSpMkLst>
        </pc:cxnChg>
      </pc:sldChg>
      <pc:sldChg chg="addSp modSp new mod">
        <pc:chgData name="楠翔 盛" userId="8a22fe4ae455d837" providerId="LiveId" clId="{8BC36A76-E62C-4273-8582-FFB1BF23C538}" dt="2026-10-23T06:34:43.186" v="3759"/>
        <pc:sldMkLst>
          <pc:docMk/>
          <pc:sldMk cId="74715815" sldId="15742571"/>
        </pc:sldMkLst>
        <pc:spChg chg="add mod">
          <ac:chgData name="楠翔 盛" userId="8a22fe4ae455d837" providerId="LiveId" clId="{8BC36A76-E62C-4273-8582-FFB1BF23C538}" dt="2026-10-23T06:06:42.666" v="3691"/>
          <ac:spMkLst>
            <pc:docMk/>
            <pc:sldMk cId="74715815" sldId="15742571"/>
            <ac:spMk id="2" creationId="{23104B19-24F5-006D-DB6C-F9F5679E5B80}"/>
          </ac:spMkLst>
        </pc:spChg>
        <pc:spChg chg="add mod">
          <ac:chgData name="楠翔 盛" userId="8a22fe4ae455d837" providerId="LiveId" clId="{8BC36A76-E62C-4273-8582-FFB1BF23C538}" dt="2026-10-23T06:34:43.186" v="3759"/>
          <ac:spMkLst>
            <pc:docMk/>
            <pc:sldMk cId="74715815" sldId="15742571"/>
            <ac:spMk id="6" creationId="{38961DF9-ABCB-3301-D654-B4FF261F8E71}"/>
          </ac:spMkLst>
        </pc:spChg>
        <pc:picChg chg="add mod">
          <ac:chgData name="楠翔 盛" userId="8a22fe4ae455d837" providerId="LiveId" clId="{8BC36A76-E62C-4273-8582-FFB1BF23C538}" dt="2026-10-23T06:06:34.081" v="3674" actId="1076"/>
          <ac:picMkLst>
            <pc:docMk/>
            <pc:sldMk cId="74715815" sldId="15742571"/>
            <ac:picMk id="4" creationId="{AD8826AE-7656-80A4-A17F-9180D28B53EF}"/>
          </ac:picMkLst>
        </pc:picChg>
      </pc:sldChg>
      <pc:sldChg chg="modSp mod">
        <pc:chgData name="楠翔 盛" userId="8a22fe4ae455d837" providerId="LiveId" clId="{8BC36A76-E62C-4273-8582-FFB1BF23C538}" dt="2026-10-27T02:52:15.178" v="3815"/>
        <pc:sldMkLst>
          <pc:docMk/>
          <pc:sldMk cId="1321563913" sldId="15742573"/>
        </pc:sldMkLst>
        <pc:spChg chg="mod">
          <ac:chgData name="楠翔 盛" userId="8a22fe4ae455d837" providerId="LiveId" clId="{8BC36A76-E62C-4273-8582-FFB1BF23C538}" dt="2026-10-27T02:13:46.646" v="3771" actId="207"/>
          <ac:spMkLst>
            <pc:docMk/>
            <pc:sldMk cId="1321563913" sldId="15742573"/>
            <ac:spMk id="7" creationId="{B424E6B4-FF15-6381-D643-A6022FCD12BF}"/>
          </ac:spMkLst>
        </pc:spChg>
        <pc:spChg chg="mod">
          <ac:chgData name="楠翔 盛" userId="8a22fe4ae455d837" providerId="LiveId" clId="{8BC36A76-E62C-4273-8582-FFB1BF23C538}" dt="2026-10-27T02:52:15.178" v="3815"/>
          <ac:spMkLst>
            <pc:docMk/>
            <pc:sldMk cId="1321563913" sldId="15742573"/>
            <ac:spMk id="11" creationId="{AC2FB77C-54A5-16ED-F770-BB77CD70348E}"/>
          </ac:spMkLst>
        </pc:spChg>
      </pc:sldChg>
      <pc:sldChg chg="addSp modSp mod">
        <pc:chgData name="楠翔 盛" userId="8a22fe4ae455d837" providerId="LiveId" clId="{8BC36A76-E62C-4273-8582-FFB1BF23C538}" dt="2026-10-27T02:51:59.921" v="3807"/>
        <pc:sldMkLst>
          <pc:docMk/>
          <pc:sldMk cId="2351433192" sldId="15742574"/>
        </pc:sldMkLst>
        <pc:spChg chg="mod">
          <ac:chgData name="楠翔 盛" userId="8a22fe4ae455d837" providerId="LiveId" clId="{8BC36A76-E62C-4273-8582-FFB1BF23C538}" dt="2026-10-27T02:14:12.077" v="3773" actId="207"/>
          <ac:spMkLst>
            <pc:docMk/>
            <pc:sldMk cId="2351433192" sldId="15742574"/>
            <ac:spMk id="28" creationId="{78D9485B-CB03-4639-B780-ADEF58D14063}"/>
          </ac:spMkLst>
        </pc:spChg>
        <pc:spChg chg="mod">
          <ac:chgData name="楠翔 盛" userId="8a22fe4ae455d837" providerId="LiveId" clId="{8BC36A76-E62C-4273-8582-FFB1BF23C538}" dt="2026-10-27T02:14:55.076" v="3782" actId="12789"/>
          <ac:spMkLst>
            <pc:docMk/>
            <pc:sldMk cId="2351433192" sldId="15742574"/>
            <ac:spMk id="29" creationId="{4AD5C7A2-5C49-9027-ADE3-887683706C01}"/>
          </ac:spMkLst>
        </pc:spChg>
        <pc:spChg chg="mod">
          <ac:chgData name="楠翔 盛" userId="8a22fe4ae455d837" providerId="LiveId" clId="{8BC36A76-E62C-4273-8582-FFB1BF23C538}" dt="2026-10-27T02:14:17.959" v="3777" actId="13926"/>
          <ac:spMkLst>
            <pc:docMk/>
            <pc:sldMk cId="2351433192" sldId="15742574"/>
            <ac:spMk id="32" creationId="{180CA896-AA44-15F6-7228-F27729A0C77B}"/>
          </ac:spMkLst>
        </pc:spChg>
        <pc:spChg chg="mod">
          <ac:chgData name="楠翔 盛" userId="8a22fe4ae455d837" providerId="LiveId" clId="{8BC36A76-E62C-4273-8582-FFB1BF23C538}" dt="2026-10-27T02:15:50.607" v="3789" actId="14100"/>
          <ac:spMkLst>
            <pc:docMk/>
            <pc:sldMk cId="2351433192" sldId="15742574"/>
            <ac:spMk id="36" creationId="{AB18636F-11A6-3830-C730-9E17F356C8F8}"/>
          </ac:spMkLst>
        </pc:spChg>
        <pc:spChg chg="mod">
          <ac:chgData name="楠翔 盛" userId="8a22fe4ae455d837" providerId="LiveId" clId="{8BC36A76-E62C-4273-8582-FFB1BF23C538}" dt="2026-10-27T02:51:59.921" v="3807"/>
          <ac:spMkLst>
            <pc:docMk/>
            <pc:sldMk cId="2351433192" sldId="15742574"/>
            <ac:spMk id="44" creationId="{164D8A80-A8B4-A4F3-4025-013A4E0BF45B}"/>
          </ac:spMkLst>
        </pc:spChg>
        <pc:cxnChg chg="add mod">
          <ac:chgData name="楠翔 盛" userId="8a22fe4ae455d837" providerId="LiveId" clId="{8BC36A76-E62C-4273-8582-FFB1BF23C538}" dt="2026-10-27T02:16:21.065" v="3793" actId="14100"/>
          <ac:cxnSpMkLst>
            <pc:docMk/>
            <pc:sldMk cId="2351433192" sldId="15742574"/>
            <ac:cxnSpMk id="4" creationId="{CFE9DBD7-EF0F-145F-6572-BC721634AEAE}"/>
          </ac:cxnSpMkLst>
        </pc:cxnChg>
        <pc:cxnChg chg="add mod">
          <ac:chgData name="楠翔 盛" userId="8a22fe4ae455d837" providerId="LiveId" clId="{8BC36A76-E62C-4273-8582-FFB1BF23C538}" dt="2026-10-27T02:16:20.549" v="3792" actId="14100"/>
          <ac:cxnSpMkLst>
            <pc:docMk/>
            <pc:sldMk cId="2351433192" sldId="15742574"/>
            <ac:cxnSpMk id="7" creationId="{979995D8-92B1-A118-B116-76167ED5DD3A}"/>
          </ac:cxnSpMkLst>
        </pc:cxnChg>
      </pc:sldChg>
      <pc:sldChg chg="modSp mod">
        <pc:chgData name="楠翔 盛" userId="8a22fe4ae455d837" providerId="LiveId" clId="{8BC36A76-E62C-4273-8582-FFB1BF23C538}" dt="2026-10-27T02:54:21.999" v="3830" actId="14734"/>
        <pc:sldMkLst>
          <pc:docMk/>
          <pc:sldMk cId="3497799740" sldId="15742575"/>
        </pc:sldMkLst>
        <pc:graphicFrameChg chg="mod modGraphic">
          <ac:chgData name="楠翔 盛" userId="8a22fe4ae455d837" providerId="LiveId" clId="{8BC36A76-E62C-4273-8582-FFB1BF23C538}" dt="2026-10-27T02:54:21.999" v="3830" actId="14734"/>
          <ac:graphicFrameMkLst>
            <pc:docMk/>
            <pc:sldMk cId="3497799740" sldId="15742575"/>
            <ac:graphicFrameMk id="21" creationId="{3DA1E1AB-329D-5383-D0B6-FF17DC2EEFAB}"/>
          </ac:graphicFrameMkLst>
        </pc:graphicFrameChg>
      </pc:sldChg>
      <pc:sldMasterChg chg="delSldLayout">
        <pc:chgData name="楠翔 盛" userId="8a22fe4ae455d837" providerId="LiveId" clId="{8BC36A76-E62C-4273-8582-FFB1BF23C538}" dt="2026-10-23T05:43:25.279" v="3105" actId="47"/>
        <pc:sldMasterMkLst>
          <pc:docMk/>
          <pc:sldMasterMk cId="3120308543" sldId="2147483662"/>
        </pc:sldMasterMkLst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FC2DF9-9E3F-4B64-B801-9616C14111B1}" type="doc">
      <dgm:prSet loTypeId="urn:microsoft.com/office/officeart/2005/8/layout/radial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D344E97D-775E-4887-B181-8328CB43B06C}">
      <dgm:prSet phldrT="[文本]" custT="1"/>
      <dgm:spPr>
        <a:noFill/>
      </dgm:spPr>
      <dgm:t>
        <a:bodyPr/>
        <a:lstStyle/>
        <a:p>
          <a:r>
            <a:rPr lang="en-US" altLang="zh-CN" sz="18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gm:t>
    </dgm:pt>
    <dgm:pt modelId="{588190D5-5AC8-4530-A729-C9E65E3A8BD7}" type="par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CCED88-5159-413C-A13A-4FD2E34A1620}" type="sib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4C1670-F035-4C66-96E3-2E717F2DAA62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闭环体验</a:t>
          </a:r>
          <a:br>
            <a:rPr lang="en-US" altLang="zh-CN" sz="1500" dirty="0">
              <a:latin typeface="+mn-ea"/>
              <a:ea typeface="+mn-ea"/>
            </a:rPr>
          </a:br>
          <a:r>
            <a:rPr lang="en-US" altLang="zh-CN" sz="1100" dirty="0">
              <a:latin typeface="+mn-ea"/>
              <a:ea typeface="+mn-ea"/>
            </a:rPr>
            <a:t>599</a:t>
          </a:r>
          <a:r>
            <a:rPr lang="zh-CN" altLang="en-US" sz="1100" dirty="0">
              <a:latin typeface="+mn-ea"/>
              <a:ea typeface="+mn-ea"/>
            </a:rPr>
            <a:t>花得值</a:t>
          </a:r>
          <a:endParaRPr lang="zh-CN" altLang="en-US" sz="1500" dirty="0">
            <a:latin typeface="+mn-ea"/>
            <a:ea typeface="+mn-ea"/>
          </a:endParaRPr>
        </a:p>
      </dgm:t>
    </dgm:pt>
    <dgm:pt modelId="{38903302-4B35-4D50-B346-B5FB41ACC1CA}" type="par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83EDE8C2-4D58-4E23-AF65-CF95EAE0B95C}" type="sib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E4222C58-41D9-48FF-9667-D53149CE89F3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/>
            <a:t>声量投放</a:t>
          </a:r>
          <a:br>
            <a:rPr lang="en-US" altLang="zh-CN" sz="1500" dirty="0"/>
          </a:br>
          <a:r>
            <a:rPr lang="zh-CN" altLang="en-US" sz="1100" dirty="0">
              <a:latin typeface="+mn-ea"/>
              <a:ea typeface="+mn-ea"/>
            </a:rPr>
            <a:t>付费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自然</a:t>
          </a:r>
          <a:endParaRPr lang="zh-CN" altLang="en-US" sz="1500" dirty="0">
            <a:latin typeface="+mn-ea"/>
            <a:ea typeface="+mn-ea"/>
          </a:endParaRPr>
        </a:p>
      </dgm:t>
    </dgm:pt>
    <dgm:pt modelId="{D6693110-DDD9-4216-9000-5C0F68E553ED}" type="par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1E1694D1-163B-4CA4-9BAF-551D4BA484FB}" type="sib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FC70DC30-C113-419F-B3DB-AB08D009C293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销量增长</a:t>
          </a:r>
          <a:br>
            <a:rPr lang="en-US" altLang="zh-CN" sz="1700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分布右移</a:t>
          </a:r>
          <a:endParaRPr lang="zh-CN" altLang="en-US" sz="1700" dirty="0">
            <a:latin typeface="+mn-ea"/>
            <a:ea typeface="+mn-ea"/>
          </a:endParaRPr>
        </a:p>
      </dgm:t>
    </dgm:pt>
    <dgm:pt modelId="{E04C54F5-096E-4950-8E2E-DD9C93000161}" type="par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6AB137D6-EF6E-4046-A48C-CAAD44AF95CB}" type="sib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F56DB1F0-2897-4CE0-8C2F-7BCC3641A9D6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资源再投</a:t>
          </a:r>
          <a:br>
            <a:rPr lang="en-US" altLang="zh-CN" sz="1400" b="1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体验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营销</a:t>
          </a:r>
          <a:endParaRPr lang="zh-CN" altLang="en-US" sz="1500" dirty="0">
            <a:latin typeface="+mn-ea"/>
            <a:ea typeface="+mn-ea"/>
          </a:endParaRPr>
        </a:p>
      </dgm:t>
    </dgm:pt>
    <dgm:pt modelId="{F7631AC8-B10C-4897-9FC6-B3CF83B9617B}" type="par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9AB57D15-2C99-4484-BD89-CFF45DFC35B0}" type="sib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A81C0777-2878-4BF5-9C90-E37B4DCADFD2}" type="pres">
      <dgm:prSet presAssocID="{04FC2DF9-9E3F-4B64-B801-9616C14111B1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1FF4C67A-7E2A-43C4-ADEC-D2770D6DE08D}" type="pres">
      <dgm:prSet presAssocID="{D344E97D-775E-4887-B181-8328CB43B06C}" presName="centerShape" presStyleLbl="node0" presStyleIdx="0" presStyleCnt="1" custScaleX="125339"/>
      <dgm:spPr/>
    </dgm:pt>
    <dgm:pt modelId="{B5B5F1FE-92E2-42CA-A143-86A43FB7B998}" type="pres">
      <dgm:prSet presAssocID="{1D4C1670-F035-4C66-96E3-2E717F2DAA62}" presName="node" presStyleLbl="node1" presStyleIdx="0" presStyleCnt="4">
        <dgm:presLayoutVars>
          <dgm:bulletEnabled val="1"/>
        </dgm:presLayoutVars>
      </dgm:prSet>
      <dgm:spPr/>
    </dgm:pt>
    <dgm:pt modelId="{39F51DC7-784B-4BAD-ADEF-6B8091F25D6C}" type="pres">
      <dgm:prSet presAssocID="{1D4C1670-F035-4C66-96E3-2E717F2DAA62}" presName="dummy" presStyleCnt="0"/>
      <dgm:spPr/>
    </dgm:pt>
    <dgm:pt modelId="{5CDAD8DE-FF2C-4604-986A-29BBC765A42E}" type="pres">
      <dgm:prSet presAssocID="{83EDE8C2-4D58-4E23-AF65-CF95EAE0B95C}" presName="sibTrans" presStyleLbl="sibTrans2D1" presStyleIdx="0" presStyleCnt="4"/>
      <dgm:spPr/>
    </dgm:pt>
    <dgm:pt modelId="{3BE50A9F-5473-4166-8F39-F49A5EB194F3}" type="pres">
      <dgm:prSet presAssocID="{E4222C58-41D9-48FF-9667-D53149CE89F3}" presName="node" presStyleLbl="node1" presStyleIdx="1" presStyleCnt="4">
        <dgm:presLayoutVars>
          <dgm:bulletEnabled val="1"/>
        </dgm:presLayoutVars>
      </dgm:prSet>
      <dgm:spPr/>
    </dgm:pt>
    <dgm:pt modelId="{FB26822E-10A4-433B-831D-CCE9C2F10374}" type="pres">
      <dgm:prSet presAssocID="{E4222C58-41D9-48FF-9667-D53149CE89F3}" presName="dummy" presStyleCnt="0"/>
      <dgm:spPr/>
    </dgm:pt>
    <dgm:pt modelId="{74F1443E-0E8A-4D5D-B986-748383A775A1}" type="pres">
      <dgm:prSet presAssocID="{1E1694D1-163B-4CA4-9BAF-551D4BA484FB}" presName="sibTrans" presStyleLbl="sibTrans2D1" presStyleIdx="1" presStyleCnt="4"/>
      <dgm:spPr/>
    </dgm:pt>
    <dgm:pt modelId="{1C9101A1-6141-41CD-BC2A-0C32B04A7220}" type="pres">
      <dgm:prSet presAssocID="{FC70DC30-C113-419F-B3DB-AB08D009C293}" presName="node" presStyleLbl="node1" presStyleIdx="2" presStyleCnt="4">
        <dgm:presLayoutVars>
          <dgm:bulletEnabled val="1"/>
        </dgm:presLayoutVars>
      </dgm:prSet>
      <dgm:spPr/>
    </dgm:pt>
    <dgm:pt modelId="{C80F0E3F-F56E-4557-92E3-9DB3647A5F31}" type="pres">
      <dgm:prSet presAssocID="{FC70DC30-C113-419F-B3DB-AB08D009C293}" presName="dummy" presStyleCnt="0"/>
      <dgm:spPr/>
    </dgm:pt>
    <dgm:pt modelId="{FFDB0D85-78E3-4AA5-9ED8-DB910C23E491}" type="pres">
      <dgm:prSet presAssocID="{6AB137D6-EF6E-4046-A48C-CAAD44AF95CB}" presName="sibTrans" presStyleLbl="sibTrans2D1" presStyleIdx="2" presStyleCnt="4"/>
      <dgm:spPr/>
    </dgm:pt>
    <dgm:pt modelId="{54216365-5E05-46D5-87DB-4C10FDD3D7F4}" type="pres">
      <dgm:prSet presAssocID="{F56DB1F0-2897-4CE0-8C2F-7BCC3641A9D6}" presName="node" presStyleLbl="node1" presStyleIdx="3" presStyleCnt="4">
        <dgm:presLayoutVars>
          <dgm:bulletEnabled val="1"/>
        </dgm:presLayoutVars>
      </dgm:prSet>
      <dgm:spPr/>
    </dgm:pt>
    <dgm:pt modelId="{D1466B5B-829D-4E0B-8336-B680844EC327}" type="pres">
      <dgm:prSet presAssocID="{F56DB1F0-2897-4CE0-8C2F-7BCC3641A9D6}" presName="dummy" presStyleCnt="0"/>
      <dgm:spPr/>
    </dgm:pt>
    <dgm:pt modelId="{27C066B3-7E16-445E-8AA8-10BAED198C8A}" type="pres">
      <dgm:prSet presAssocID="{9AB57D15-2C99-4484-BD89-CFF45DFC35B0}" presName="sibTrans" presStyleLbl="sibTrans2D1" presStyleIdx="3" presStyleCnt="4"/>
      <dgm:spPr/>
    </dgm:pt>
  </dgm:ptLst>
  <dgm:cxnLst>
    <dgm:cxn modelId="{2E62900E-1E73-4F5F-A29E-FBAB935EBFFE}" srcId="{04FC2DF9-9E3F-4B64-B801-9616C14111B1}" destId="{D344E97D-775E-4887-B181-8328CB43B06C}" srcOrd="0" destOrd="0" parTransId="{588190D5-5AC8-4530-A729-C9E65E3A8BD7}" sibTransId="{1DCCED88-5159-413C-A13A-4FD2E34A1620}"/>
    <dgm:cxn modelId="{353CFC0E-2AFB-4A26-9D1B-990473386A0C}" srcId="{D344E97D-775E-4887-B181-8328CB43B06C}" destId="{E4222C58-41D9-48FF-9667-D53149CE89F3}" srcOrd="1" destOrd="0" parTransId="{D6693110-DDD9-4216-9000-5C0F68E553ED}" sibTransId="{1E1694D1-163B-4CA4-9BAF-551D4BA484FB}"/>
    <dgm:cxn modelId="{CB567D19-11D6-4F2A-AE44-BE462B017026}" type="presOf" srcId="{E4222C58-41D9-48FF-9667-D53149CE89F3}" destId="{3BE50A9F-5473-4166-8F39-F49A5EB194F3}" srcOrd="0" destOrd="0" presId="urn:microsoft.com/office/officeart/2005/8/layout/radial6"/>
    <dgm:cxn modelId="{8623F61C-571D-4895-A538-647A4F5B6C7E}" srcId="{D344E97D-775E-4887-B181-8328CB43B06C}" destId="{1D4C1670-F035-4C66-96E3-2E717F2DAA62}" srcOrd="0" destOrd="0" parTransId="{38903302-4B35-4D50-B346-B5FB41ACC1CA}" sibTransId="{83EDE8C2-4D58-4E23-AF65-CF95EAE0B95C}"/>
    <dgm:cxn modelId="{D2F8F224-E8B2-473F-9B7B-EA3DC661B969}" type="presOf" srcId="{9AB57D15-2C99-4484-BD89-CFF45DFC35B0}" destId="{27C066B3-7E16-445E-8AA8-10BAED198C8A}" srcOrd="0" destOrd="0" presId="urn:microsoft.com/office/officeart/2005/8/layout/radial6"/>
    <dgm:cxn modelId="{BDDE8D34-4749-498C-800D-041323B04367}" type="presOf" srcId="{FC70DC30-C113-419F-B3DB-AB08D009C293}" destId="{1C9101A1-6141-41CD-BC2A-0C32B04A7220}" srcOrd="0" destOrd="0" presId="urn:microsoft.com/office/officeart/2005/8/layout/radial6"/>
    <dgm:cxn modelId="{75B12D61-C7C7-43EF-8502-6F6D403BD9F2}" type="presOf" srcId="{F56DB1F0-2897-4CE0-8C2F-7BCC3641A9D6}" destId="{54216365-5E05-46D5-87DB-4C10FDD3D7F4}" srcOrd="0" destOrd="0" presId="urn:microsoft.com/office/officeart/2005/8/layout/radial6"/>
    <dgm:cxn modelId="{A7F9DD61-5BBD-4D1E-9C2F-B555CA532EB6}" type="presOf" srcId="{1D4C1670-F035-4C66-96E3-2E717F2DAA62}" destId="{B5B5F1FE-92E2-42CA-A143-86A43FB7B998}" srcOrd="0" destOrd="0" presId="urn:microsoft.com/office/officeart/2005/8/layout/radial6"/>
    <dgm:cxn modelId="{A37DE742-89F7-4E7D-82FE-543D2E399CC3}" type="presOf" srcId="{83EDE8C2-4D58-4E23-AF65-CF95EAE0B95C}" destId="{5CDAD8DE-FF2C-4604-986A-29BBC765A42E}" srcOrd="0" destOrd="0" presId="urn:microsoft.com/office/officeart/2005/8/layout/radial6"/>
    <dgm:cxn modelId="{56D20947-166A-495F-BED0-336C9A975CBB}" srcId="{D344E97D-775E-4887-B181-8328CB43B06C}" destId="{F56DB1F0-2897-4CE0-8C2F-7BCC3641A9D6}" srcOrd="3" destOrd="0" parTransId="{F7631AC8-B10C-4897-9FC6-B3CF83B9617B}" sibTransId="{9AB57D15-2C99-4484-BD89-CFF45DFC35B0}"/>
    <dgm:cxn modelId="{6C7A0368-BA66-4E10-95BC-CBDFF48BAA8B}" type="presOf" srcId="{6AB137D6-EF6E-4046-A48C-CAAD44AF95CB}" destId="{FFDB0D85-78E3-4AA5-9ED8-DB910C23E491}" srcOrd="0" destOrd="0" presId="urn:microsoft.com/office/officeart/2005/8/layout/radial6"/>
    <dgm:cxn modelId="{3E658387-420F-4EF8-933D-A6A3B00A19CF}" type="presOf" srcId="{D344E97D-775E-4887-B181-8328CB43B06C}" destId="{1FF4C67A-7E2A-43C4-ADEC-D2770D6DE08D}" srcOrd="0" destOrd="0" presId="urn:microsoft.com/office/officeart/2005/8/layout/radial6"/>
    <dgm:cxn modelId="{BF59F0A7-7010-4625-9B8B-19B37DD676CD}" srcId="{D344E97D-775E-4887-B181-8328CB43B06C}" destId="{FC70DC30-C113-419F-B3DB-AB08D009C293}" srcOrd="2" destOrd="0" parTransId="{E04C54F5-096E-4950-8E2E-DD9C93000161}" sibTransId="{6AB137D6-EF6E-4046-A48C-CAAD44AF95CB}"/>
    <dgm:cxn modelId="{3A9C69AB-3849-4672-8F65-D31DA708DAA0}" type="presOf" srcId="{04FC2DF9-9E3F-4B64-B801-9616C14111B1}" destId="{A81C0777-2878-4BF5-9C90-E37B4DCADFD2}" srcOrd="0" destOrd="0" presId="urn:microsoft.com/office/officeart/2005/8/layout/radial6"/>
    <dgm:cxn modelId="{C5596EC3-21C2-46B0-B33D-857984E14422}" type="presOf" srcId="{1E1694D1-163B-4CA4-9BAF-551D4BA484FB}" destId="{74F1443E-0E8A-4D5D-B986-748383A775A1}" srcOrd="0" destOrd="0" presId="urn:microsoft.com/office/officeart/2005/8/layout/radial6"/>
    <dgm:cxn modelId="{3879A067-5E42-428F-A91C-AD1DD3C38462}" type="presParOf" srcId="{A81C0777-2878-4BF5-9C90-E37B4DCADFD2}" destId="{1FF4C67A-7E2A-43C4-ADEC-D2770D6DE08D}" srcOrd="0" destOrd="0" presId="urn:microsoft.com/office/officeart/2005/8/layout/radial6"/>
    <dgm:cxn modelId="{B647BEEE-EAB7-47FB-9B63-87B1B614D683}" type="presParOf" srcId="{A81C0777-2878-4BF5-9C90-E37B4DCADFD2}" destId="{B5B5F1FE-92E2-42CA-A143-86A43FB7B998}" srcOrd="1" destOrd="0" presId="urn:microsoft.com/office/officeart/2005/8/layout/radial6"/>
    <dgm:cxn modelId="{B54C5639-2893-43CE-9554-A3CCC4CE133C}" type="presParOf" srcId="{A81C0777-2878-4BF5-9C90-E37B4DCADFD2}" destId="{39F51DC7-784B-4BAD-ADEF-6B8091F25D6C}" srcOrd="2" destOrd="0" presId="urn:microsoft.com/office/officeart/2005/8/layout/radial6"/>
    <dgm:cxn modelId="{72FF2AF1-D33A-4E38-87EE-1FCD6C931C0F}" type="presParOf" srcId="{A81C0777-2878-4BF5-9C90-E37B4DCADFD2}" destId="{5CDAD8DE-FF2C-4604-986A-29BBC765A42E}" srcOrd="3" destOrd="0" presId="urn:microsoft.com/office/officeart/2005/8/layout/radial6"/>
    <dgm:cxn modelId="{1758AA04-2DEE-4ED2-AA54-D662863B0DBD}" type="presParOf" srcId="{A81C0777-2878-4BF5-9C90-E37B4DCADFD2}" destId="{3BE50A9F-5473-4166-8F39-F49A5EB194F3}" srcOrd="4" destOrd="0" presId="urn:microsoft.com/office/officeart/2005/8/layout/radial6"/>
    <dgm:cxn modelId="{62BA6FA8-3713-4AE9-8132-DCC923F6F4D1}" type="presParOf" srcId="{A81C0777-2878-4BF5-9C90-E37B4DCADFD2}" destId="{FB26822E-10A4-433B-831D-CCE9C2F10374}" srcOrd="5" destOrd="0" presId="urn:microsoft.com/office/officeart/2005/8/layout/radial6"/>
    <dgm:cxn modelId="{FEF92412-2B2B-442F-A795-C6C4CB02AA75}" type="presParOf" srcId="{A81C0777-2878-4BF5-9C90-E37B4DCADFD2}" destId="{74F1443E-0E8A-4D5D-B986-748383A775A1}" srcOrd="6" destOrd="0" presId="urn:microsoft.com/office/officeart/2005/8/layout/radial6"/>
    <dgm:cxn modelId="{50E1D194-2932-42B4-A48D-F04CB44CA126}" type="presParOf" srcId="{A81C0777-2878-4BF5-9C90-E37B4DCADFD2}" destId="{1C9101A1-6141-41CD-BC2A-0C32B04A7220}" srcOrd="7" destOrd="0" presId="urn:microsoft.com/office/officeart/2005/8/layout/radial6"/>
    <dgm:cxn modelId="{6C36DE68-BECC-4E17-B102-C3199E1534BB}" type="presParOf" srcId="{A81C0777-2878-4BF5-9C90-E37B4DCADFD2}" destId="{C80F0E3F-F56E-4557-92E3-9DB3647A5F31}" srcOrd="8" destOrd="0" presId="urn:microsoft.com/office/officeart/2005/8/layout/radial6"/>
    <dgm:cxn modelId="{8F748075-8668-4BC9-AFB8-9775F1669DA6}" type="presParOf" srcId="{A81C0777-2878-4BF5-9C90-E37B4DCADFD2}" destId="{FFDB0D85-78E3-4AA5-9ED8-DB910C23E491}" srcOrd="9" destOrd="0" presId="urn:microsoft.com/office/officeart/2005/8/layout/radial6"/>
    <dgm:cxn modelId="{D513A58D-31FC-4332-AEB8-D54C82855825}" type="presParOf" srcId="{A81C0777-2878-4BF5-9C90-E37B4DCADFD2}" destId="{54216365-5E05-46D5-87DB-4C10FDD3D7F4}" srcOrd="10" destOrd="0" presId="urn:microsoft.com/office/officeart/2005/8/layout/radial6"/>
    <dgm:cxn modelId="{4864E4EE-AF27-4A31-83AC-04CA877303E3}" type="presParOf" srcId="{A81C0777-2878-4BF5-9C90-E37B4DCADFD2}" destId="{D1466B5B-829D-4E0B-8336-B680844EC327}" srcOrd="11" destOrd="0" presId="urn:microsoft.com/office/officeart/2005/8/layout/radial6"/>
    <dgm:cxn modelId="{56F35E7F-DDA4-44D8-BFBB-0946495E7171}" type="presParOf" srcId="{A81C0777-2878-4BF5-9C90-E37B4DCADFD2}" destId="{27C066B3-7E16-445E-8AA8-10BAED198C8A}" srcOrd="12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C066B3-7E16-445E-8AA8-10BAED198C8A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0800000"/>
            <a:gd name="adj2" fmla="val 162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DB0D85-78E3-4AA5-9ED8-DB910C23E49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5400000"/>
            <a:gd name="adj2" fmla="val 108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F1443E-0E8A-4D5D-B986-748383A775A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0"/>
            <a:gd name="adj2" fmla="val 54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DAD8DE-FF2C-4604-986A-29BBC765A42E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6200000"/>
            <a:gd name="adj2" fmla="val 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F4C67A-7E2A-43C4-ADEC-D2770D6DE08D}">
      <dsp:nvSpPr>
        <dsp:cNvPr id="0" name=""/>
        <dsp:cNvSpPr/>
      </dsp:nvSpPr>
      <dsp:spPr>
        <a:xfrm>
          <a:off x="1781450" y="1429589"/>
          <a:ext cx="1965913" cy="1568477"/>
        </a:xfrm>
        <a:prstGeom prst="ellipse">
          <a:avLst/>
        </a:prstGeom>
        <a:noFill/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kern="12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sp:txBody>
      <dsp:txXfrm>
        <a:off x="2069351" y="1659287"/>
        <a:ext cx="1390111" cy="1109081"/>
      </dsp:txXfrm>
    </dsp:sp>
    <dsp:sp modelId="{B5B5F1FE-92E2-42CA-A143-86A43FB7B998}">
      <dsp:nvSpPr>
        <dsp:cNvPr id="0" name=""/>
        <dsp:cNvSpPr/>
      </dsp:nvSpPr>
      <dsp:spPr>
        <a:xfrm>
          <a:off x="2215440" y="998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闭环体验</a:t>
          </a:r>
          <a:br>
            <a:rPr lang="en-US" altLang="zh-CN" sz="1500" kern="1200" dirty="0">
              <a:latin typeface="+mn-ea"/>
              <a:ea typeface="+mn-ea"/>
            </a:rPr>
          </a:br>
          <a:r>
            <a:rPr lang="en-US" altLang="zh-CN" sz="1100" kern="1200" dirty="0">
              <a:latin typeface="+mn-ea"/>
              <a:ea typeface="+mn-ea"/>
            </a:rPr>
            <a:t>599</a:t>
          </a:r>
          <a:r>
            <a:rPr lang="zh-CN" altLang="en-US" sz="1100" kern="1200" dirty="0">
              <a:latin typeface="+mn-ea"/>
              <a:ea typeface="+mn-ea"/>
            </a:rPr>
            <a:t>花得值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2376229" y="161787"/>
        <a:ext cx="776356" cy="776356"/>
      </dsp:txXfrm>
    </dsp:sp>
    <dsp:sp modelId="{3BE50A9F-5473-4166-8F39-F49A5EB194F3}">
      <dsp:nvSpPr>
        <dsp:cNvPr id="0" name=""/>
        <dsp:cNvSpPr/>
      </dsp:nvSpPr>
      <dsp:spPr>
        <a:xfrm>
          <a:off x="3879303" y="1664860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/>
            <a:t>声量投放</a:t>
          </a:r>
          <a:br>
            <a:rPr lang="en-US" altLang="zh-CN" sz="1500" kern="1200" dirty="0"/>
          </a:br>
          <a:r>
            <a:rPr lang="zh-CN" altLang="en-US" sz="1100" kern="1200" dirty="0">
              <a:latin typeface="+mn-ea"/>
              <a:ea typeface="+mn-ea"/>
            </a:rPr>
            <a:t>付费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自然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4040092" y="1825649"/>
        <a:ext cx="776356" cy="776356"/>
      </dsp:txXfrm>
    </dsp:sp>
    <dsp:sp modelId="{1C9101A1-6141-41CD-BC2A-0C32B04A7220}">
      <dsp:nvSpPr>
        <dsp:cNvPr id="0" name=""/>
        <dsp:cNvSpPr/>
      </dsp:nvSpPr>
      <dsp:spPr>
        <a:xfrm>
          <a:off x="2215440" y="3328723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销量增长</a:t>
          </a:r>
          <a:br>
            <a:rPr lang="en-US" altLang="zh-CN" sz="1700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分布右移</a:t>
          </a:r>
          <a:endParaRPr lang="zh-CN" altLang="en-US" sz="1700" kern="1200" dirty="0">
            <a:latin typeface="+mn-ea"/>
            <a:ea typeface="+mn-ea"/>
          </a:endParaRPr>
        </a:p>
      </dsp:txBody>
      <dsp:txXfrm>
        <a:off x="2376229" y="3489512"/>
        <a:ext cx="776356" cy="776356"/>
      </dsp:txXfrm>
    </dsp:sp>
    <dsp:sp modelId="{54216365-5E05-46D5-87DB-4C10FDD3D7F4}">
      <dsp:nvSpPr>
        <dsp:cNvPr id="0" name=""/>
        <dsp:cNvSpPr/>
      </dsp:nvSpPr>
      <dsp:spPr>
        <a:xfrm>
          <a:off x="551577" y="1664860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资源再投</a:t>
          </a:r>
          <a:br>
            <a:rPr lang="en-US" altLang="zh-CN" sz="1400" b="1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体验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营销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712366" y="1825649"/>
        <a:ext cx="776356" cy="7763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65BD-BC87-2294-38E5-8724227EE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157080-B713-36BC-7CB8-11FF5E94C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19A4F-2CC7-A558-6DD5-285F41A1F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D75C5D-E545-D4C2-E8D6-91F224EDA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7179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F9A-A452-23B0-0344-C076C1BA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645AAD-DA89-11F8-C925-D0D7F8056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6DF00E-4CF2-F8A1-63BA-4E767C17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CBB779-ED1F-F875-8DEC-90E1868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158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7A2D-8123-5389-CB2F-8EDA15320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648D46-15DD-370F-15EE-EFFD4D938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C861DF-8E70-709E-D112-CFA970DCD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38C983-8BEB-9406-9706-4167CB02B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7614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7DEB-E9C2-8CB6-228C-EF9DFED8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14BCF0-3EEA-830E-AB14-B907457DC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FC6EEC-8120-A892-4FA5-B8DE24E9E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47FB0F-DB45-BBAC-A4FD-3FAFB61F5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7782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E8C7-5E9E-2EAD-39DE-2B29EFDE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947E95-47E4-9286-8BDB-E77B0259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2085E0-BE4C-ED49-674D-BF49DABFF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53B7A-545D-930E-8523-CFBE0818E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224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61F11-CA3C-7B7B-CFEA-C4C80C8F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EBEEB2-2EE4-2C43-D385-930B08A3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341B3-C50E-3575-ACFE-B17BF2A6C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31D1AC-E3E0-0F5E-C415-D92A7BCE8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4518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115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10/27/2026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6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60" r:id="rId13"/>
    <p:sldLayoutId id="214748366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slideLayout" Target="../slideLayouts/slideLayout7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3" Type="http://schemas.openxmlformats.org/officeDocument/2006/relationships/tags" Target="../tags/tag17.xml"/><Relationship Id="rId7" Type="http://schemas.openxmlformats.org/officeDocument/2006/relationships/slideLayout" Target="../slideLayouts/slideLayout4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notesSlide" Target="../notesSlides/notesSlide2.xml"/><Relationship Id="rId5" Type="http://schemas.openxmlformats.org/officeDocument/2006/relationships/tags" Target="../tags/tag25.xml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24.xml"/><Relationship Id="rId9" Type="http://schemas.openxmlformats.org/officeDocument/2006/relationships/tags" Target="../tags/tag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37.xml"/><Relationship Id="rId13" Type="http://schemas.openxmlformats.org/officeDocument/2006/relationships/tags" Target="../tags/tag42.xml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tags" Target="../tags/tag41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tags" Target="../tags/tag40.xml"/><Relationship Id="rId5" Type="http://schemas.openxmlformats.org/officeDocument/2006/relationships/tags" Target="../tags/tag34.xml"/><Relationship Id="rId15" Type="http://schemas.openxmlformats.org/officeDocument/2006/relationships/notesSlide" Target="../notesSlides/notesSlide4.xml"/><Relationship Id="rId10" Type="http://schemas.openxmlformats.org/officeDocument/2006/relationships/tags" Target="../tags/tag39.xml"/><Relationship Id="rId4" Type="http://schemas.openxmlformats.org/officeDocument/2006/relationships/tags" Target="../tags/tag33.xml"/><Relationship Id="rId9" Type="http://schemas.openxmlformats.org/officeDocument/2006/relationships/tags" Target="../tags/tag38.xml"/><Relationship Id="rId14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44.xml"/><Relationship Id="rId1" Type="http://schemas.openxmlformats.org/officeDocument/2006/relationships/tags" Target="../tags/tag4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image" Target="../media/image8.jpg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image" Target="../media/image7.png"/><Relationship Id="rId5" Type="http://schemas.openxmlformats.org/officeDocument/2006/relationships/tags" Target="../tags/tag49.xml"/><Relationship Id="rId10" Type="http://schemas.openxmlformats.org/officeDocument/2006/relationships/image" Target="../media/image6.jpeg"/><Relationship Id="rId4" Type="http://schemas.openxmlformats.org/officeDocument/2006/relationships/tags" Target="../tags/tag48.xml"/><Relationship Id="rId9" Type="http://schemas.openxmlformats.org/officeDocument/2006/relationships/notesSlide" Target="../notesSlides/notesSlid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image" Target="../media/image13.jpeg"/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en-US" altLang="zh-CN" sz="6000" dirty="0" err="1">
                <a:latin typeface="+mj-ea"/>
                <a:ea typeface="+mj-ea"/>
              </a:rPr>
              <a:t>AiKen</a:t>
            </a:r>
            <a:r>
              <a:rPr lang="en-US" altLang="zh-CN" sz="6000" dirty="0">
                <a:latin typeface="+mj-ea"/>
                <a:ea typeface="+mj-ea"/>
              </a:rPr>
              <a:t> JY SI/DO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2026/10/19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1620957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战略意图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263CA6-3439-6D12-627C-A98DF4FFB4BA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总纲：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本项目是品牌投资型项目，不以利润为核心诉求，以潮玩影像品类第一款产品为极印注入情绪型基因，同时验证</a:t>
            </a:r>
            <a:r>
              <a:rPr kumimoji="0" lang="en-US" altLang="zh-CN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端打法。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F2821F-05A4-AE69-DF0D-62B66002E132}"/>
              </a:ext>
            </a:extLst>
          </p:cNvPr>
          <p:cNvSpPr txBox="1"/>
          <p:nvPr/>
        </p:nvSpPr>
        <p:spPr>
          <a:xfrm>
            <a:off x="36109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SI-1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：增强极印品牌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以独立潮玩相机品类第一款切入，承接品牌蓝图 工具型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情绪型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创作型 的跃迁。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以品牌资产指标衡量成果（搜索量、自然提及率、内容关键词纯度等）。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DBADAC-EBE8-D3A2-0373-6212E5CC7276}"/>
              </a:ext>
            </a:extLst>
          </p:cNvPr>
          <p:cNvSpPr txBox="1"/>
          <p:nvPr/>
        </p:nvSpPr>
        <p:spPr>
          <a:xfrm>
            <a:off x="3344363" y="1737953"/>
            <a:ext cx="2520000" cy="2794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SI-2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：打造优秀的闭环体验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产品定义从“一台相机”升级为完整闭环：拍摄（快速开机、仪式感）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“冲印”（稳定快速传输、即时或模拟等待）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出片（滤镜、特效如漏光）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分享（拼贴、一键社媒）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生态（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App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端联动打印）。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F2F3F32-2342-6D00-839A-E88E0016A703}"/>
              </a:ext>
            </a:extLst>
          </p:cNvPr>
          <p:cNvSpPr txBox="1"/>
          <p:nvPr/>
        </p:nvSpPr>
        <p:spPr>
          <a:xfrm>
            <a:off x="6327636" y="1737953"/>
            <a:ext cx="2520000" cy="2148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SI-3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：验证</a:t>
            </a: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端业务飞轮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体验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声量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–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资源再投入，四环正循环。首年目标不是转得快，而是转起来并被验证。严守纪律，严禁反向操作。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D60322-1329-4A60-15D3-9B8AA1D322B8}"/>
              </a:ext>
            </a:extLst>
          </p:cNvPr>
          <p:cNvSpPr txBox="1"/>
          <p:nvPr/>
        </p:nvSpPr>
        <p:spPr>
          <a:xfrm>
            <a:off x="931091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SI-4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：试点新的销量预测模型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从三场景预测转向概率分布经营：参照类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+Bass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扩散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蒙特卡洛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投流漏斗。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所有运营动作是把销量分布往右推。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30/90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天用真实数据收窄分布。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3FCD92B-D3B8-E019-E11E-2262D3A1962F}"/>
              </a:ext>
            </a:extLst>
          </p:cNvPr>
          <p:cNvSpPr txBox="1"/>
          <p:nvPr/>
        </p:nvSpPr>
        <p:spPr>
          <a:xfrm>
            <a:off x="3344363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让用户觉得花得值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FB91762-CE8F-D214-E00A-91A8E913FEDC}"/>
              </a:ext>
            </a:extLst>
          </p:cNvPr>
          <p:cNvSpPr txBox="1"/>
          <p:nvPr/>
        </p:nvSpPr>
        <p:spPr>
          <a:xfrm>
            <a:off x="361090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销量是手段，不是目的。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30139B-F85E-311F-2026-CB4C33C7FCF1}"/>
              </a:ext>
            </a:extLst>
          </p:cNvPr>
          <p:cNvSpPr txBox="1"/>
          <p:nvPr/>
        </p:nvSpPr>
        <p:spPr>
          <a:xfrm>
            <a:off x="6327636" y="4596348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飞轮静止质量大，反转一次代价高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334CE63-81D9-588D-F669-D3D21D7BD551}"/>
              </a:ext>
            </a:extLst>
          </p:cNvPr>
          <p:cNvSpPr txBox="1"/>
          <p:nvPr/>
        </p:nvSpPr>
        <p:spPr>
          <a:xfrm>
            <a:off x="9310909" y="4596349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验证有效则沉淀为极印新品类经营范式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4D99CCC-D8CE-CFF2-5976-6C57E493280C}"/>
              </a:ext>
            </a:extLst>
          </p:cNvPr>
          <p:cNvSpPr txBox="1"/>
          <p:nvPr/>
        </p:nvSpPr>
        <p:spPr>
          <a:xfrm>
            <a:off x="361090" y="5682947"/>
            <a:ext cx="11469819" cy="419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贯穿目标是团队能力：体验设计、内容运营、飞轮运营、概率化运营。锻炼四项能力，是独立于产品成败之外的确定性收益。 </a:t>
            </a:r>
            <a:endParaRPr lang="en-US" altLang="zh-CN" sz="16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41BF68DD-B407-2F13-476A-037E6B2DBA13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899733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COA</a:t>
            </a:r>
            <a:endParaRPr lang="zh-CN" altLang="en-US" sz="28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A63905-8031-3F4D-A0DA-7111704CAD20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用途：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项目推进中遇到张力需要取舍判断时，以本表为依据。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24E6B4-FF15-6381-D643-A6022FCD12BF}"/>
              </a:ext>
            </a:extLst>
          </p:cNvPr>
          <p:cNvSpPr txBox="1"/>
          <p:nvPr/>
        </p:nvSpPr>
        <p:spPr>
          <a:xfrm>
            <a:off x="361090" y="1737953"/>
            <a:ext cx="3600000" cy="454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Constrain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红线与纪律</a:t>
            </a:r>
            <a:endParaRPr lang="en-US" altLang="zh-CN" sz="1400" b="1" dirty="0">
              <a:solidFill>
                <a:schemeClr val="bg1"/>
              </a:solidFill>
              <a:highlight>
                <a:srgbClr val="FF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品牌投资型定位：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营收不作强考核，继续投入的亏损可能性预先接受。不以短期利润为由改变运营纪律；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品牌定位：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不进入相机参数比较框架，品类叙事锚定品牌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Creator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Jester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定位；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飞轮纪律：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严禁降价、砍体验、砍投放等反向操作；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cs typeface="+mn-ea"/>
                <a:sym typeface="+mn-lt"/>
              </a:rPr>
              <a:t>体验交付：</a:t>
            </a:r>
            <a:r>
              <a:rPr lang="zh-CN" altLang="en-US" sz="1400" dirty="0">
                <a:cs typeface="+mn-ea"/>
                <a:sym typeface="+mn-lt"/>
              </a:rPr>
              <a:t>定义的闭环体验不完整不发，不带伤上市；</a:t>
            </a:r>
            <a:endParaRPr lang="en-US" altLang="zh-CN" sz="1400" dirty="0"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cs typeface="+mn-ea"/>
                <a:sym typeface="+mn-lt"/>
              </a:rPr>
              <a:t>沉没成本切割：</a:t>
            </a:r>
            <a:r>
              <a:rPr lang="en-US" altLang="zh-CN" sz="1400" dirty="0">
                <a:cs typeface="+mn-ea"/>
                <a:sym typeface="+mn-lt"/>
              </a:rPr>
              <a:t>10</a:t>
            </a:r>
            <a:r>
              <a:rPr lang="zh-CN" altLang="en-US" sz="1400" dirty="0">
                <a:cs typeface="+mn-ea"/>
                <a:sym typeface="+mn-lt"/>
              </a:rPr>
              <a:t>月前投入不计入后续财务分析及预算考核。</a:t>
            </a:r>
            <a:endParaRPr lang="en-US" altLang="zh-CN" sz="1400" dirty="0"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A451BC-C43E-4FFE-6978-CB94D8BE898F}"/>
              </a:ext>
            </a:extLst>
          </p:cNvPr>
          <p:cNvSpPr txBox="1"/>
          <p:nvPr/>
        </p:nvSpPr>
        <p:spPr>
          <a:xfrm>
            <a:off x="4295999" y="1737953"/>
            <a:ext cx="3600000" cy="3440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Optimize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目标与能力建设</a:t>
            </a:r>
            <a:endParaRPr lang="en-US" altLang="zh-CN" sz="1400" b="1" dirty="0">
              <a:solidFill>
                <a:schemeClr val="bg1"/>
              </a:solidFill>
              <a:highlight>
                <a:srgbClr val="00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财务场景：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以销量概率分布分位锚定三档（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Worst=P10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Normal=P50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Best=P90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）供团队执行使用；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Q2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尾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/ 618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上市：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项目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Schedule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618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为目标制定；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定价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599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筛除比价人群，保留投放空间；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生产节奏：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首批投产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MOQ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按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3000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台，按季生产补货。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C2FB77C-54A5-16ED-F770-BB77CD70348E}"/>
              </a:ext>
            </a:extLst>
          </p:cNvPr>
          <p:cNvSpPr txBox="1"/>
          <p:nvPr/>
        </p:nvSpPr>
        <p:spPr>
          <a:xfrm>
            <a:off x="8230909" y="1737953"/>
            <a:ext cx="3600000" cy="3425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Accept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可让路项与已知代价</a:t>
            </a:r>
            <a:endParaRPr lang="en-US" altLang="zh-CN" sz="1400" b="1" dirty="0">
              <a:solidFill>
                <a:schemeClr val="bg1"/>
              </a:solidFill>
              <a:highlight>
                <a:srgbClr val="80808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批量小成本高：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总量预测低于小米一个量级，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BOM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会有上浮；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单品利润率：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项目目标非利润，毛利结构服从飞轮纪律；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en-US" altLang="zh-CN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Worst </a:t>
            </a: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场景的发生本身：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落在销量概率分布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P10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及以下的可能性，其造成亏损已在品牌投资框架内被接受，不触发自动止损。触发的是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Checkpoint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诊断与策略调整。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1563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347D-5595-1454-D9C1-08FE857CF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D4FF92E5-F557-BE1A-1DA7-06B3E74BA945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248005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SI-1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：增强极印品牌</a:t>
            </a: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78D9485B-CB03-4639-B780-ADEF58D1406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品牌战略骨架：极印要成为什么？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4AD5C7A2-5C49-9027-ADE3-887683706C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628234"/>
            <a:ext cx="3599999" cy="3021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品牌使命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让值得留下来的，真正留下来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</a:rPr>
              <a:t>洞察：记录越来越容易，真正留下来越来越难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品牌原型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b="1" dirty="0">
                <a:solidFill>
                  <a:srgbClr val="000000"/>
                </a:solidFill>
              </a:rPr>
              <a:t>Creator</a:t>
            </a:r>
            <a:r>
              <a:rPr lang="zh-CN" altLang="en-US" b="1" dirty="0">
                <a:solidFill>
                  <a:srgbClr val="000000"/>
                </a:solidFill>
              </a:rPr>
              <a:t>（创作者）</a:t>
            </a:r>
            <a:r>
              <a:rPr lang="en-US" altLang="zh-CN" b="1" dirty="0">
                <a:solidFill>
                  <a:srgbClr val="000000"/>
                </a:solidFill>
              </a:rPr>
              <a:t> x Jester</a:t>
            </a:r>
            <a:r>
              <a:rPr lang="zh-CN" altLang="en-US" b="1" dirty="0">
                <a:solidFill>
                  <a:srgbClr val="000000"/>
                </a:solidFill>
              </a:rPr>
              <a:t>（玩趣派）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</a:rPr>
              <a:t>Creator</a:t>
            </a:r>
            <a:r>
              <a:rPr lang="zh-CN" altLang="en-US" sz="1100" dirty="0">
                <a:solidFill>
                  <a:srgbClr val="000000"/>
                </a:solidFill>
              </a:rPr>
              <a:t>敢信敢下单，</a:t>
            </a:r>
            <a:r>
              <a:rPr lang="en-US" altLang="zh-CN" sz="1100" dirty="0">
                <a:solidFill>
                  <a:srgbClr val="000000"/>
                </a:solidFill>
              </a:rPr>
              <a:t>Jester</a:t>
            </a:r>
            <a:r>
              <a:rPr lang="zh-CN" altLang="en-US" sz="1100" dirty="0">
                <a:solidFill>
                  <a:srgbClr val="000000"/>
                </a:solidFill>
              </a:rPr>
              <a:t>敢玩玩上瘾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战略跃迁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工具型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情绪型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创作型生活方式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 err="1">
                <a:solidFill>
                  <a:srgbClr val="000000"/>
                </a:solidFill>
              </a:rPr>
              <a:t>AiKen</a:t>
            </a:r>
            <a:r>
              <a:rPr lang="zh-CN" altLang="en-US" sz="1100" dirty="0">
                <a:solidFill>
                  <a:srgbClr val="000000"/>
                </a:solidFill>
              </a:rPr>
              <a:t>锚定情绪型</a:t>
            </a:r>
            <a:endParaRPr sz="1100" dirty="0">
              <a:solidFill>
                <a:srgbClr val="000000"/>
              </a:solidFill>
            </a:endParaRPr>
          </a:p>
        </p:txBody>
      </p:sp>
      <p:sp>
        <p:nvSpPr>
          <p:cNvPr id="32" name="TextBox 6">
            <a:extLst>
              <a:ext uri="{FF2B5EF4-FFF2-40B4-BE49-F238E27FC236}">
                <a16:creationId xmlns:a16="http://schemas.microsoft.com/office/drawing/2014/main" id="{180CA896-AA44-15F6-7228-F27729A0C77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品牌战略 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&lt;-&gt; </a:t>
            </a:r>
            <a:r>
              <a:rPr lang="en-US" altLang="zh-CN" sz="1400" b="1" dirty="0" err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AiKen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4C136A3E-4659-564B-580C-9CC07191153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8229599" y="1631567"/>
            <a:ext cx="3247417" cy="275562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品牌原型载体：</a:t>
            </a:r>
            <a:r>
              <a:rPr lang="zh-CN" altLang="en-US" sz="1200" dirty="0">
                <a:solidFill>
                  <a:srgbClr val="000000"/>
                </a:solidFill>
              </a:rPr>
              <a:t>无屏</a:t>
            </a:r>
            <a:r>
              <a:rPr lang="en-US" altLang="zh-CN" sz="1200" dirty="0">
                <a:solidFill>
                  <a:srgbClr val="000000"/>
                </a:solidFill>
              </a:rPr>
              <a:t>+36</a:t>
            </a:r>
            <a:r>
              <a:rPr lang="zh-CN" altLang="en-US" sz="1200" dirty="0">
                <a:solidFill>
                  <a:srgbClr val="000000"/>
                </a:solidFill>
              </a:rPr>
              <a:t>张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风格及特效</a:t>
            </a:r>
            <a:r>
              <a:rPr lang="en-US" altLang="zh-CN" sz="1200" dirty="0">
                <a:solidFill>
                  <a:srgbClr val="000000"/>
                </a:solidFill>
              </a:rPr>
              <a:t> -&gt; </a:t>
            </a:r>
            <a:r>
              <a:rPr lang="zh-CN" altLang="en-US" sz="1200" dirty="0">
                <a:solidFill>
                  <a:srgbClr val="000000"/>
                </a:solidFill>
              </a:rPr>
              <a:t>体验符合</a:t>
            </a:r>
            <a:r>
              <a:rPr lang="en-US" altLang="zh-CN" sz="1200" dirty="0">
                <a:solidFill>
                  <a:srgbClr val="000000"/>
                </a:solidFill>
              </a:rPr>
              <a:t>Creator</a:t>
            </a:r>
            <a:r>
              <a:rPr lang="zh-CN" altLang="en-US" sz="1200" dirty="0">
                <a:solidFill>
                  <a:srgbClr val="000000"/>
                </a:solidFill>
              </a:rPr>
              <a:t>的认真创作和</a:t>
            </a:r>
            <a:r>
              <a:rPr lang="en-US" altLang="zh-CN" sz="1200" dirty="0">
                <a:solidFill>
                  <a:srgbClr val="000000"/>
                </a:solidFill>
              </a:rPr>
              <a:t>Jester</a:t>
            </a:r>
            <a:r>
              <a:rPr lang="zh-CN" altLang="en-US" sz="1200" dirty="0">
                <a:solidFill>
                  <a:srgbClr val="000000"/>
                </a:solidFill>
              </a:rPr>
              <a:t>的玩趣彩蛋；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战略跃迁：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的核心是设备仪式感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内容情感密度，天生就是情绪型产品；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核心人群的年轻入口：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覆盖</a:t>
            </a:r>
            <a:r>
              <a:rPr lang="en-US" altLang="zh-CN" sz="1200" dirty="0">
                <a:solidFill>
                  <a:srgbClr val="000000"/>
                </a:solidFill>
              </a:rPr>
              <a:t>18-30</a:t>
            </a:r>
            <a:r>
              <a:rPr lang="zh-CN" altLang="en-US" sz="1200" dirty="0">
                <a:solidFill>
                  <a:srgbClr val="000000"/>
                </a:solidFill>
              </a:rPr>
              <a:t>岁年轻入口段，先进圈再导入印创生态；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丰富创作上游：</a:t>
            </a:r>
            <a:r>
              <a:rPr lang="zh-CN" altLang="en-US" sz="1200" dirty="0">
                <a:solidFill>
                  <a:srgbClr val="000000"/>
                </a:solidFill>
              </a:rPr>
              <a:t>原来创作素材默认来自手机。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把素材输入仪式化，与下游印创无缝衔接带来更多发现可能性。</a:t>
            </a:r>
          </a:p>
        </p:txBody>
      </p:sp>
      <p:sp>
        <p:nvSpPr>
          <p:cNvPr id="36" name="TextBox 6">
            <a:extLst>
              <a:ext uri="{FF2B5EF4-FFF2-40B4-BE49-F238E27FC236}">
                <a16:creationId xmlns:a16="http://schemas.microsoft.com/office/drawing/2014/main" id="{AB18636F-11A6-3830-C730-9E17F356C8F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品牌架构：三大品类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D044195F-9DCF-A3C2-33F4-D69DEEE6452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295345" y="3275713"/>
            <a:ext cx="3599998" cy="600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无冲突，有互动：</a:t>
            </a:r>
            <a:r>
              <a:rPr lang="en-US" altLang="zh-CN" sz="1200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是拍的仪式，照片打印机是印的便捷。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App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端可联通 拍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创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印。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0517A7AB-4540-E2AA-B75F-717925939D0E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296000" y="1777804"/>
            <a:ext cx="1086744" cy="124203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潮玩相机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 err="1">
                <a:solidFill>
                  <a:schemeClr val="tx1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599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Rounded Rectangle 8">
            <a:extLst>
              <a:ext uri="{FF2B5EF4-FFF2-40B4-BE49-F238E27FC236}">
                <a16:creationId xmlns:a16="http://schemas.microsoft.com/office/drawing/2014/main" id="{3598AB58-0348-F0CE-2148-484AF9EE255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5552628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照片打印机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459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N3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649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N2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Rounded Rectangle 8">
            <a:extLst>
              <a:ext uri="{FF2B5EF4-FFF2-40B4-BE49-F238E27FC236}">
                <a16:creationId xmlns:a16="http://schemas.microsoft.com/office/drawing/2014/main" id="{F2B90F18-9FAB-990C-A8DC-CB2DA9F72C5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808600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打印切割机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S1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1799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Rounded Rectangle 8">
            <a:extLst>
              <a:ext uri="{FF2B5EF4-FFF2-40B4-BE49-F238E27FC236}">
                <a16:creationId xmlns:a16="http://schemas.microsoft.com/office/drawing/2014/main" id="{2AD21899-CA15-1362-1399-D8E7C0ECBDE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343926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  <a:ea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  <a:ea typeface="+mj-ea"/>
              </a:rPr>
              <a:t>主张</a:t>
            </a:r>
            <a:endParaRPr lang="en-US" sz="10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因为不知道，所以认真</a:t>
            </a:r>
            <a:endParaRPr sz="14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FD184178-C856-7468-B647-AEBF7F1D76AE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326762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行为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认真拍下今天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F8671E4F-E2C1-CD95-6D8C-FC6C45AFA0B8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361090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bg1"/>
                </a:solidFill>
                <a:latin typeface="+mj-ea"/>
              </a:rPr>
              <a:t>品牌 </a:t>
            </a:r>
            <a:r>
              <a:rPr lang="en-US" altLang="zh-CN" sz="1000" dirty="0">
                <a:solidFill>
                  <a:schemeClr val="bg1"/>
                </a:solidFill>
                <a:latin typeface="+mj-ea"/>
              </a:rPr>
              <a:t>CCI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bg1"/>
                </a:solidFill>
                <a:latin typeface="+mn-ea"/>
              </a:rPr>
              <a:t>让今天值得留下来</a:t>
            </a: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164D8A80-A8B4-A4F3-4025-013A4E0BF45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9309599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生态承接</a:t>
            </a:r>
            <a:endParaRPr lang="en-US" altLang="zh-CN" sz="1000" dirty="0">
              <a:solidFill>
                <a:schemeClr val="tx1"/>
              </a:solidFill>
              <a:latin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值得做，做成作品</a:t>
            </a:r>
            <a:endParaRPr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6934C67-8552-9B0F-03E1-41A7167E0485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2881090" y="5319039"/>
            <a:ext cx="462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8465A89-2BCF-1F93-F59B-BC0D8DB6E74A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863926" y="5319039"/>
            <a:ext cx="462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0CE54988-EEEB-D5E7-2406-8EE44A136A65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>
            <a:off x="8846762" y="5319039"/>
            <a:ext cx="4628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6">
            <a:extLst>
              <a:ext uri="{FF2B5EF4-FFF2-40B4-BE49-F238E27FC236}">
                <a16:creationId xmlns:a16="http://schemas.microsoft.com/office/drawing/2014/main" id="{E88FE0DD-228B-31F2-FFB1-0F8106BE6433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361089" y="5881689"/>
            <a:ext cx="11468510" cy="31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dirty="0">
                <a:latin typeface="Segoe UI" panose="020B0502040204020203"/>
              </a:rPr>
              <a:t>潮玩相机语境沿用“让今天值得留下来”，不使用“把高光极印成我”。</a:t>
            </a:r>
            <a:endParaRPr sz="700" dirty="0">
              <a:latin typeface="微软雅黑" panose="020B0503020204020204" charset="-122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FE9DBD7-EF0F-145F-6572-BC721634AEAE}"/>
              </a:ext>
            </a:extLst>
          </p:cNvPr>
          <p:cNvCxnSpPr>
            <a:cxnSpLocks/>
          </p:cNvCxnSpPr>
          <p:nvPr/>
        </p:nvCxnSpPr>
        <p:spPr>
          <a:xfrm>
            <a:off x="3961089" y="1951864"/>
            <a:ext cx="0" cy="23745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79995D8-92B1-A118-B116-76167ED5DD3A}"/>
              </a:ext>
            </a:extLst>
          </p:cNvPr>
          <p:cNvCxnSpPr>
            <a:cxnSpLocks/>
          </p:cNvCxnSpPr>
          <p:nvPr/>
        </p:nvCxnSpPr>
        <p:spPr>
          <a:xfrm>
            <a:off x="8060338" y="1951864"/>
            <a:ext cx="0" cy="23745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1433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5C912-2D8D-D06A-D528-BB06C399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77D68F75-ECBC-2EEE-DFD1-65598F72D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0908"/>
            <a:ext cx="4334841" cy="480131"/>
          </a:xfrm>
        </p:spPr>
        <p:txBody>
          <a:bodyPr wrap="none">
            <a:spAutoFit/>
          </a:bodyPr>
          <a:lstStyle/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 2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：打造优秀的闭环体验</a:t>
            </a:r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3F35BBC-E97E-B0B2-89F3-AAF169B84C35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09371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拍摄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机械过片</a:t>
            </a:r>
            <a:r>
              <a:rPr lang="en-US" altLang="zh-CN" sz="1200" dirty="0">
                <a:solidFill>
                  <a:schemeClr val="tx1"/>
                </a:solidFill>
              </a:rPr>
              <a:t>+36</a:t>
            </a:r>
            <a:r>
              <a:rPr lang="zh-CN" altLang="en-US" sz="1200" dirty="0">
                <a:solidFill>
                  <a:schemeClr val="tx1"/>
                </a:solidFill>
              </a:rPr>
              <a:t>张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无屏，反数码焦虑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极速开机</a:t>
            </a:r>
            <a:r>
              <a:rPr lang="en-US" altLang="zh-CN" sz="1200" dirty="0">
                <a:solidFill>
                  <a:schemeClr val="tx1"/>
                </a:solidFill>
              </a:rPr>
              <a:t>+</a:t>
            </a:r>
            <a:r>
              <a:rPr lang="zh-CN" altLang="en-US" sz="1200" dirty="0">
                <a:solidFill>
                  <a:schemeClr val="tx1"/>
                </a:solidFill>
              </a:rPr>
              <a:t>泛焦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09B3F393-A44F-1FFA-61ED-C70F7E5E93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547124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风格与冲洗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风格与特效（如漏光）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en-US" altLang="zh-CN" sz="1200" dirty="0" err="1">
                <a:solidFill>
                  <a:schemeClr val="tx1"/>
                </a:solidFill>
              </a:rPr>
              <a:t>WiFi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传输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D9103824-26EA-52F0-D45D-69CF7E362FA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484877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暗房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即时查看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模拟等待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衔接打印导入创印生态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3" name="Rounded Rectangle 6">
            <a:extLst>
              <a:ext uri="{FF2B5EF4-FFF2-40B4-BE49-F238E27FC236}">
                <a16:creationId xmlns:a16="http://schemas.microsoft.com/office/drawing/2014/main" id="{79062689-C046-12E7-0CA5-55641DA8ABE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9422630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创作分享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二创模板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一键分享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5" name="Rounded Rectangle 6">
            <a:extLst>
              <a:ext uri="{FF2B5EF4-FFF2-40B4-BE49-F238E27FC236}">
                <a16:creationId xmlns:a16="http://schemas.microsoft.com/office/drawing/2014/main" id="{6B9CAB80-6279-88B4-AA08-D0B329A82D7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547124" y="4820703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任务解锁风格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运营持续推新玩法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7" name="Rounded Rectangle 6">
            <a:extLst>
              <a:ext uri="{FF2B5EF4-FFF2-40B4-BE49-F238E27FC236}">
                <a16:creationId xmlns:a16="http://schemas.microsoft.com/office/drawing/2014/main" id="{E53BE85E-55FF-31A6-F085-C9611BDB6D17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36613" y="1317297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传输后继续下一卷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F38BF30-1B01-6AB6-765B-E023D6EAFDEA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2769371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0B112E3-549B-D8D0-5CE1-38B76D7A4A25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5707124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33662C3C-7BEB-B49A-B58A-E098EB7ABD8A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>
            <a:off x="8644877" y="3249000"/>
            <a:ext cx="777753" cy="0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217C0D53-45E5-30EA-5834-FA927FF3C795}"/>
              </a:ext>
            </a:extLst>
          </p:cNvPr>
          <p:cNvCxnSpPr>
            <a:stCxn id="15" idx="0"/>
            <a:endCxn id="27" idx="3"/>
          </p:cNvCxnSpPr>
          <p:nvPr/>
        </p:nvCxnSpPr>
        <p:spPr>
          <a:xfrm rot="16200000" flipV="1">
            <a:off x="4081018" y="1892893"/>
            <a:ext cx="761703" cy="330511"/>
          </a:xfrm>
          <a:prstGeom prst="bentConnector2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A637E427-B666-CA97-F54D-7D4F89D7BA84}"/>
              </a:ext>
            </a:extLst>
          </p:cNvPr>
          <p:cNvCxnSpPr>
            <a:cxnSpLocks/>
            <a:stCxn id="27" idx="1"/>
            <a:endCxn id="4" idx="0"/>
          </p:cNvCxnSpPr>
          <p:nvPr/>
        </p:nvCxnSpPr>
        <p:spPr>
          <a:xfrm rot="10800000" flipV="1">
            <a:off x="1689371" y="1677296"/>
            <a:ext cx="447242" cy="761703"/>
          </a:xfrm>
          <a:prstGeom prst="bentConnector2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2E5DD2F1-934D-242C-089C-38D6DDFFCAAC}"/>
              </a:ext>
            </a:extLst>
          </p:cNvPr>
          <p:cNvCxnSpPr>
            <a:stCxn id="15" idx="2"/>
            <a:endCxn id="25" idx="0"/>
          </p:cNvCxnSpPr>
          <p:nvPr/>
        </p:nvCxnSpPr>
        <p:spPr>
          <a:xfrm>
            <a:off x="4627124" y="4059000"/>
            <a:ext cx="0" cy="761703"/>
          </a:xfrm>
          <a:prstGeom prst="straightConnector1">
            <a:avLst/>
          </a:prstGeom>
          <a:ln w="12700"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237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5BFD453-D07E-D19E-981A-2CA56B6E0499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909019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SI-3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：验证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端业务飞轮</a:t>
            </a:r>
          </a:p>
        </p:txBody>
      </p:sp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0F0EF69C-A5AA-0885-44CD-D5C5784E47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7209088"/>
              </p:ext>
            </p:extLst>
          </p:nvPr>
        </p:nvGraphicFramePr>
        <p:xfrm>
          <a:off x="203201" y="1607435"/>
          <a:ext cx="5528815" cy="4427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7AFBC607-0999-F0B2-1497-4A50AD9226B0}"/>
              </a:ext>
            </a:extLst>
          </p:cNvPr>
          <p:cNvSpPr txBox="1"/>
          <p:nvPr/>
        </p:nvSpPr>
        <p:spPr>
          <a:xfrm>
            <a:off x="5644782" y="991039"/>
            <a:ext cx="6180273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飞轮纪律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飞轮静止质量很大，转起来费劲，但一旦转起来，每加一点力都会越转越快，反向的力也一样被放大。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降价：引入比价人群、价格回不去、破坏品牌资产。三输。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砍体验：飞轮起点坍塌、后续声量、销量全部失去启动力。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砍投放：结合品牌实际情况和新品类，自然流量小。声量大部分来自主动投放，停投即可能直接断流。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汉印：外观迭代、售价留空间（营销活动余地）、认准方向坚持投入。把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1%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慢慢变成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。</a:t>
            </a:r>
            <a:endParaRPr lang="en-US" altLang="zh-CN" sz="11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F44FF5-974B-1BE5-3F0A-E3658AD70F66}"/>
              </a:ext>
            </a:extLst>
          </p:cNvPr>
          <p:cNvSpPr txBox="1"/>
          <p:nvPr/>
        </p:nvSpPr>
        <p:spPr>
          <a:xfrm>
            <a:off x="5644782" y="4025525"/>
            <a:ext cx="609452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从预算到销量的漏斗数学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3DA1E1AB-329D-5383-D0B6-FF17DC2EEF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672207"/>
              </p:ext>
            </p:extLst>
          </p:nvPr>
        </p:nvGraphicFramePr>
        <p:xfrm>
          <a:off x="5644782" y="4404411"/>
          <a:ext cx="6180273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2140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558133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个月销售费用预算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168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销售费用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30%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的八成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÷ CPM 42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4000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万曝光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极印约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37.6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（站外）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/ 45.2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（站内）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CTR 2.3%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92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万点击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实测为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2.14%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CVR 1.6%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1.47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万销量（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H1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0.98%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N2 3.27%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印证价位弹性。</a:t>
                      </a:r>
                      <a:endParaRPr lang="en-US" altLang="zh-CN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23" name="星形: 五角 22">
            <a:extLst>
              <a:ext uri="{FF2B5EF4-FFF2-40B4-BE49-F238E27FC236}">
                <a16:creationId xmlns:a16="http://schemas.microsoft.com/office/drawing/2014/main" id="{BA7A70CF-9941-462A-AA7A-8A0EEEB6BB28}"/>
              </a:ext>
            </a:extLst>
          </p:cNvPr>
          <p:cNvSpPr/>
          <p:nvPr/>
        </p:nvSpPr>
        <p:spPr>
          <a:xfrm>
            <a:off x="2404648" y="1478536"/>
            <a:ext cx="346229" cy="329283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799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04B19-24F5-006D-DB6C-F9F5679E5B80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248279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小米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极印 产品定义变化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8826AE-7656-80A4-A17F-9180D28B5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229" y="2410894"/>
            <a:ext cx="4072424" cy="20362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8961DF9-ABCB-3301-D654-B4FF261F8E71}"/>
              </a:ext>
            </a:extLst>
          </p:cNvPr>
          <p:cNvSpPr txBox="1"/>
          <p:nvPr/>
        </p:nvSpPr>
        <p:spPr>
          <a:xfrm>
            <a:off x="441964" y="1417492"/>
            <a:ext cx="4769133" cy="467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硬件：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取消与米系口袋硬件联动，取消经典蓝牙模块需求；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取消日期戳功能所需纽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扣电池；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保留原“打印键”，定义为“功能键”；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原发光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屏改为无背光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变更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Type-C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充电口位置；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ID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CMF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调整；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软件：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暗房照片列表和单图浏览支持联动极印照片打印机；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日期戳默认为关；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4715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市场与用户洞察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复古经济、情绪价值、目标人群、竞品分析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0908"/>
            <a:ext cx="4852610" cy="480131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复古经济与情绪价值双轮驱动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31520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1005840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3552亿</a:t>
            </a:r>
            <a:r>
              <a:rPr sz="2000" b="0">
                <a:solidFill>
                  <a:schemeClr val="bg1"/>
                </a:solidFill>
                <a:latin typeface="微软雅黑" panose="020B0503020204020204" charset="-122"/>
              </a:rPr>
              <a:t>元</a:t>
            </a: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2025年中国复古经济市场规模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同比增长12%，预计2030年达5880亿</a:t>
            </a:r>
          </a:p>
        </p:txBody>
      </p:sp>
      <p:sp>
        <p:nvSpPr>
          <p:cNvPr id="5" name="Rounded Rectangle 8"/>
          <p:cNvSpPr/>
          <p:nvPr>
            <p:custDataLst>
              <p:tags r:id="rId4"/>
            </p:custDataLst>
          </p:nvPr>
        </p:nvSpPr>
        <p:spPr>
          <a:xfrm>
            <a:off x="448055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475487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56%</a:t>
            </a: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Z世代愿为情绪价值买单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较2024年增长16个百分点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822959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50391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1350%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850391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胶片摄影在小红书搜索量增长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远超大品类增速，需求信号明确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  <a:latin typeface="+mn-ea"/>
              </a:rPr>
              <a:t>已有产品验证市场需求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富士 Instax Pal：销量比预期高出三成，全球拍立得累计突破1亿台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柯达 Charmera：“盲盒潮玩+可挂时尚”在年轻女性中引发热潮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DazzCam/NOMO/FIMO：用户愿为复古胶片感付费，风格化摄影需求真实存在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Flashback One35 V2：仪式感+数码戒断+盲盒心理驱动购买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 descr="collage_ppt_b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  <p:sp>
        <p:nvSpPr>
          <p:cNvPr id="2" name="TextBox 5"/>
          <p:cNvSpPr txBox="1"/>
          <p:nvPr/>
        </p:nvSpPr>
        <p:spPr>
          <a:xfrm>
            <a:off x="731520" y="4322445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</a:rPr>
              <a:t>“热爱氛围感的年轻潮人”——</a:t>
            </a:r>
            <a:r>
              <a:rPr lang="en-US" sz="1600">
                <a:solidFill>
                  <a:schemeClr val="tx1"/>
                </a:solidFill>
              </a:rPr>
              <a:t> </a:t>
            </a:r>
            <a:r>
              <a:rPr sz="1600">
                <a:solidFill>
                  <a:schemeClr val="tx1"/>
                </a:solidFill>
              </a:rPr>
              <a:t>她们</a:t>
            </a:r>
            <a:r>
              <a:rPr sz="1600" b="1">
                <a:solidFill>
                  <a:srgbClr val="FF0000"/>
                </a:solidFill>
              </a:rPr>
              <a:t>不是</a:t>
            </a:r>
            <a:r>
              <a:rPr sz="1600">
                <a:solidFill>
                  <a:schemeClr val="tx1"/>
                </a:solidFill>
              </a:rPr>
              <a:t>追求</a:t>
            </a:r>
            <a:r>
              <a:rPr sz="1600" b="1">
                <a:solidFill>
                  <a:srgbClr val="FF0000"/>
                </a:solidFill>
              </a:rPr>
              <a:t>技术和画质</a:t>
            </a:r>
            <a:r>
              <a:rPr sz="1600">
                <a:solidFill>
                  <a:schemeClr val="tx1"/>
                </a:solidFill>
              </a:rPr>
              <a:t>的摄影发烧友，而</a:t>
            </a:r>
            <a:r>
              <a:rPr sz="1600" b="1">
                <a:solidFill>
                  <a:srgbClr val="00B050"/>
                </a:solidFill>
              </a:rPr>
              <a:t>是</a:t>
            </a:r>
            <a:r>
              <a:rPr sz="1600">
                <a:solidFill>
                  <a:schemeClr val="tx1"/>
                </a:solidFill>
              </a:rPr>
              <a:t>为</a:t>
            </a:r>
            <a:r>
              <a:rPr sz="1600" b="1">
                <a:solidFill>
                  <a:srgbClr val="00B050"/>
                </a:solidFill>
              </a:rPr>
              <a:t>情绪价值</a:t>
            </a:r>
            <a:r>
              <a:rPr sz="1600">
                <a:solidFill>
                  <a:schemeClr val="tx1"/>
                </a:solidFill>
              </a:rPr>
              <a:t>买单的年轻潮人。</a:t>
            </a:r>
            <a:br>
              <a:rPr sz="1600">
                <a:solidFill>
                  <a:schemeClr val="tx1"/>
                </a:solidFill>
              </a:rPr>
            </a:br>
            <a:r>
              <a:rPr sz="1600">
                <a:solidFill>
                  <a:schemeClr val="tx1"/>
                </a:solidFill>
              </a:rPr>
              <a:t>对她们来说，“好玩”和“好看”的重要性远超“专业”和“精准”。</a:t>
            </a:r>
          </a:p>
        </p:txBody>
      </p:sp>
      <p:sp>
        <p:nvSpPr>
          <p:cNvPr id="4" name="Rounded Rectangle 6"/>
          <p:cNvSpPr/>
          <p:nvPr>
            <p:custDataLst>
              <p:tags r:id="rId1"/>
            </p:custDataLst>
          </p:nvPr>
        </p:nvSpPr>
        <p:spPr>
          <a:xfrm>
            <a:off x="805815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>
            <p:custDataLst>
              <p:tags r:id="rId2"/>
            </p:custDataLst>
          </p:nvPr>
        </p:nvSpPr>
        <p:spPr>
          <a:xfrm>
            <a:off x="80581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痛点</a:t>
            </a:r>
          </a:p>
        </p:txBody>
      </p:sp>
      <p:sp>
        <p:nvSpPr>
          <p:cNvPr id="18" name="TextBox 8"/>
          <p:cNvSpPr txBox="1"/>
          <p:nvPr>
            <p:custDataLst>
              <p:tags r:id="rId3"/>
            </p:custDataLst>
          </p:nvPr>
        </p:nvSpPr>
        <p:spPr>
          <a:xfrm>
            <a:off x="805815" y="5053965"/>
            <a:ext cx="1019302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活跃于小红书、抖音等社交平台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对复古文化、胶片质感有强烈好奇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sz="1200">
                <a:solidFill>
                  <a:schemeClr val="tx1"/>
                </a:solidFill>
                <a:latin typeface="+mn-ea"/>
              </a:rPr>
              <a:t>预算有限，但对新鲜事物充满好奇</a:t>
            </a:r>
          </a:p>
        </p:txBody>
      </p:sp>
      <p:sp>
        <p:nvSpPr>
          <p:cNvPr id="19" name="Rounded Rectangle 9"/>
          <p:cNvSpPr/>
          <p:nvPr>
            <p:custDataLst>
              <p:tags r:id="rId4"/>
            </p:custDataLst>
          </p:nvPr>
        </p:nvSpPr>
        <p:spPr>
          <a:xfrm>
            <a:off x="348360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12"/>
          <p:cNvSpPr/>
          <p:nvPr>
            <p:custDataLst>
              <p:tags r:id="rId5"/>
            </p:custDataLst>
          </p:nvPr>
        </p:nvSpPr>
        <p:spPr>
          <a:xfrm>
            <a:off x="883919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9"/>
          <p:cNvSpPr/>
          <p:nvPr>
            <p:custDataLst>
              <p:tags r:id="rId6"/>
            </p:custDataLst>
          </p:nvPr>
        </p:nvSpPr>
        <p:spPr>
          <a:xfrm>
            <a:off x="6161404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/>
          <p:cNvSpPr txBox="1"/>
          <p:nvPr>
            <p:custDataLst>
              <p:tags r:id="rId7"/>
            </p:custDataLst>
          </p:nvPr>
        </p:nvSpPr>
        <p:spPr>
          <a:xfrm>
            <a:off x="80645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手机拍照太完美，缺乏个性！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815" y="1459230"/>
            <a:ext cx="1330960" cy="373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sz="1600" b="1">
                <a:solidFill>
                  <a:schemeClr val="tx2"/>
                </a:solidFill>
              </a:rPr>
              <a:t>用户旅程</a:t>
            </a:r>
          </a:p>
        </p:txBody>
      </p:sp>
      <p:sp>
        <p:nvSpPr>
          <p:cNvPr id="7" name="TextBox 7"/>
          <p:cNvSpPr txBox="1"/>
          <p:nvPr>
            <p:custDataLst>
              <p:tags r:id="rId8"/>
            </p:custDataLst>
          </p:nvPr>
        </p:nvSpPr>
        <p:spPr>
          <a:xfrm>
            <a:off x="348361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2. </a:t>
            </a:r>
            <a:r>
              <a:rPr lang="zh-CN" altLang="en-US">
                <a:solidFill>
                  <a:schemeClr val="bg1"/>
                </a:solidFill>
              </a:rPr>
              <a:t>发现</a:t>
            </a:r>
          </a:p>
        </p:txBody>
      </p:sp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348424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在社媒被外观、仪式感吸引，被风格化击中。</a:t>
            </a:r>
          </a:p>
        </p:txBody>
      </p:sp>
      <p:sp>
        <p:nvSpPr>
          <p:cNvPr id="10" name="TextBox 7"/>
          <p:cNvSpPr txBox="1"/>
          <p:nvPr>
            <p:custDataLst>
              <p:tags r:id="rId10"/>
            </p:custDataLst>
          </p:nvPr>
        </p:nvSpPr>
        <p:spPr>
          <a:xfrm>
            <a:off x="616077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体验</a:t>
            </a:r>
          </a:p>
        </p:txBody>
      </p:sp>
      <p:sp>
        <p:nvSpPr>
          <p:cNvPr id="11" name="TextBox 7"/>
          <p:cNvSpPr txBox="1"/>
          <p:nvPr>
            <p:custDataLst>
              <p:tags r:id="rId11"/>
            </p:custDataLst>
          </p:nvPr>
        </p:nvSpPr>
        <p:spPr>
          <a:xfrm>
            <a:off x="616140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旁轴取景、咔嚓过片、举起就拍，摆脱数码焦虑</a:t>
            </a:r>
          </a:p>
        </p:txBody>
      </p:sp>
      <p:sp>
        <p:nvSpPr>
          <p:cNvPr id="12" name="TextBox 7"/>
          <p:cNvSpPr txBox="1"/>
          <p:nvPr>
            <p:custDataLst>
              <p:tags r:id="rId12"/>
            </p:custDataLst>
          </p:nvPr>
        </p:nvSpPr>
        <p:spPr>
          <a:xfrm>
            <a:off x="883729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4. </a:t>
            </a:r>
            <a:r>
              <a:rPr lang="zh-CN" altLang="en-US">
                <a:solidFill>
                  <a:schemeClr val="bg1"/>
                </a:solidFill>
              </a:rPr>
              <a:t>分享</a:t>
            </a:r>
          </a:p>
        </p:txBody>
      </p:sp>
      <p:sp>
        <p:nvSpPr>
          <p:cNvPr id="13" name="TextBox 7"/>
          <p:cNvSpPr txBox="1"/>
          <p:nvPr>
            <p:custDataLst>
              <p:tags r:id="rId13"/>
            </p:custDataLst>
          </p:nvPr>
        </p:nvSpPr>
        <p:spPr>
          <a:xfrm>
            <a:off x="883793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选择风格，等待成片。生成拼贴，分享惊喜。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511175"/>
            <a:ext cx="2316163" cy="47942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核心使用场景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87194286"/>
              </p:ext>
            </p:extLst>
          </p:nvPr>
        </p:nvGraphicFramePr>
        <p:xfrm>
          <a:off x="838200" y="1280160"/>
          <a:ext cx="10409555" cy="2529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拍摄对象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光线条件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+mn-ea"/>
                        </a:rPr>
                        <a:t>接受成像不佳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城市漫游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街景、店铺、人物、猫狗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</a:t>
                      </a: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雨天、夜晚、极弱室内光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景点打卡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网红景点、自然风光、人物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晴天、多云、阴天、夕阳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社交聚会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静物、室内环境、合影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探店看展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校园日常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人物、宿舍、校园景观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户外及室内光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</a:rPr>
              <a:t>场景定位总结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515600" cy="159893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主力场景：城市扫街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探店人像</a:t>
            </a:r>
            <a:r>
              <a:rPr lang="en-US"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</a:rPr>
              <a:t>旅行时光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可覆盖：户外日光最佳，室内可用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不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指望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：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极弱光室内，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夜景拍摄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放弃自拍：无屏幕无自拍镜，盲拍自拍构图精度极低；</a:t>
            </a:r>
            <a:r>
              <a:rPr sz="1400" b="1" dirty="0" err="1">
                <a:solidFill>
                  <a:schemeClr val="tx1"/>
                </a:solidFill>
                <a:latin typeface="微软雅黑" panose="020B0503020204020204" charset="-122"/>
              </a:rPr>
              <a:t>放弃近摄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释放光学余量给弱光场景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产品定义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一句话定义、产品愿景、核心价值与卖点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1981200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一句话定义</a:t>
            </a:r>
            <a:endParaRPr lang="zh-CN" altLang="en-US" sz="14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63243" y="1054762"/>
            <a:ext cx="10665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tx2"/>
                </a:solidFill>
              </a:rPr>
              <a:t>一款让年轻潮人获得胶卷体验的数码相机</a:t>
            </a:r>
            <a:endParaRPr lang="en-US" altLang="zh-CN" sz="3200" dirty="0">
              <a:solidFill>
                <a:schemeClr val="tx2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89239" y="1853557"/>
            <a:ext cx="7413523" cy="41701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3384550" cy="477838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产品愿景与核心价值</a:t>
            </a:r>
          </a:p>
        </p:txBody>
      </p:sp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852170" y="839754"/>
            <a:ext cx="10581640" cy="789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在手机摄影越来越“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完美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越来越“快”的时代，我们想为年轻人重新找回拍照的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仪式感、不确定性和惊喜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b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</a:b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AiKen不是性能怪兽，而是一个能缓解“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数码焦虑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提供纯粹拍摄乐趣的情绪出口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+mn-ea"/>
              <a:cs typeface="+mn-ea"/>
              <a:sym typeface="+mn-ea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3F38698-7B60-4FBE-9661-F72BA19EB501}"/>
              </a:ext>
            </a:extLst>
          </p:cNvPr>
          <p:cNvGrpSpPr/>
          <p:nvPr/>
        </p:nvGrpSpPr>
        <p:grpSpPr>
          <a:xfrm>
            <a:off x="806133" y="1980000"/>
            <a:ext cx="10580370" cy="3986530"/>
            <a:chOff x="1342" y="3355"/>
            <a:chExt cx="16662" cy="6278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F75A972-21CA-D067-8ED8-8DCF23089AC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1342" y="7898"/>
              <a:ext cx="4535" cy="1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复刻胶卷仪式感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无屏幕、过片、模拟冲洗等待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情绪价值而非效率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0CD01D2-2991-FBBF-D3B2-188E25B6FB05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7336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胶片风格直出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首发</a:t>
              </a:r>
              <a:r>
                <a:rPr lang="en-US" altLang="zh-CN" sz="1400" dirty="0"/>
                <a:t>10</a:t>
              </a:r>
              <a:r>
                <a:rPr lang="zh-CN" altLang="en-US" sz="1400" dirty="0"/>
                <a:t>款仿胶片风格滤镜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暗角、漏光、相框叠加玩法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ACFED6D-4CD3-1F24-2A8F-0B0A2B5B37E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13469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数码内核的便捷性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随时取出、即时取出模式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按卷管理、生成拼贴</a:t>
              </a: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9955F187-4D54-FB4A-2AAC-B2BB8D39B78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69" y="3358"/>
              <a:ext cx="4535" cy="4535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0A7F6F2B-E01A-56B3-8971-DE912B6D5803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" b="220"/>
            <a:stretch/>
          </p:blipFill>
          <p:spPr>
            <a:xfrm>
              <a:off x="7336" y="3355"/>
              <a:ext cx="4535" cy="453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4E1BBDD-BEFE-88C2-A69D-9B1E4BF3BB3F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2" y="3358"/>
              <a:ext cx="4535" cy="453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20A7-34AE-D695-21CE-9941DA38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A6E4069-AE63-B9DE-EB86-BCA3659492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  <a:noFill/>
        </p:spPr>
      </p:pic>
      <p:sp>
        <p:nvSpPr>
          <p:cNvPr id="17" name="标题 1">
            <a:extLst>
              <a:ext uri="{FF2B5EF4-FFF2-40B4-BE49-F238E27FC236}">
                <a16:creationId xmlns:a16="http://schemas.microsoft.com/office/drawing/2014/main" id="{BC141432-41A7-0F3C-3F7B-30F7F214AE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卖点一：无屏幕、过片结构，时尚便携潮玩</a:t>
            </a:r>
          </a:p>
        </p:txBody>
      </p:sp>
    </p:spTree>
    <p:extLst>
      <p:ext uri="{BB962C8B-B14F-4D97-AF65-F5344CB8AC3E}">
        <p14:creationId xmlns:p14="http://schemas.microsoft.com/office/powerpoint/2010/main" val="1631008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78C-3910-B4A3-03FF-66B74C7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5B2C9293-4B1B-FC00-C93A-208EA51F04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卖点二：胶卷的仪式感和数码内核的便捷性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779E52C-A00B-A2ED-265C-8E58DEA68E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954"/>
            <a:ext cx="12192000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9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5674-A52D-8EC6-0A41-CCAA64663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53CA88E-FA2E-3EFB-94A5-F6EE8318E2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88987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卖点三：仿胶卷风格直出，叠加特效增加可玩性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44AB08-7576-831A-17F4-686903B9AD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224" y="1110600"/>
            <a:ext cx="9337396" cy="46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4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623A-7871-1326-6FE2-F8613799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4CAD687A-0899-E0E1-9F75-0B088C8370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55721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卖点四：按卷查看，二创拼贴分享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9EF8AF-25CB-4854-6340-08B556F5BC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06236"/>
            <a:ext cx="12192000" cy="404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519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96AC-DDD2-8CBD-B4C5-A58F860A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2578CA2-8CD4-D15B-EB0E-8B59A8EF14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895350" cy="477838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竞品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3B4C30-BA9B-1524-FF34-6DCF42DC611C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41964" y="3973026"/>
            <a:ext cx="2880000" cy="418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/>
              <a:t>Flashback One35 V2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C305F3F-EB59-149F-A80A-85D291978DB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1964" y="1095662"/>
            <a:ext cx="2880000" cy="28800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8439D9-7501-7FBC-5F87-9C640B39A731}"/>
              </a:ext>
            </a:extLst>
          </p:cNvPr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065830970"/>
              </p:ext>
            </p:extLst>
          </p:nvPr>
        </p:nvGraphicFramePr>
        <p:xfrm>
          <a:off x="4286881" y="365061"/>
          <a:ext cx="7540936" cy="5481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项目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小米复古数码相机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Flashback One35 V2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上市日期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Q2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月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价格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599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749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图像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，裁切至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镜头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f=35mm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f=24mm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曝光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/EV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控制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自动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取景器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Y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轴偏移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光学旁轴，双轴偏移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36929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存储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JPEG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DNG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695418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软件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独立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，国内未上架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08719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首发滤镜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10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0742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个性化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漏光、暗角、相框、拼贴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无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8859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传输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&lt;75s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120s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43217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打印机联动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内直接联动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55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7302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CARD_INVALID" val="Invalid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5,&quot;width&quot;:833.1388976377954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="" xmlns:wpsdc="http://www.wps.cn/officeDocument/2017/drawingmlCustomData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2009</TotalTime>
  <Words>2696</Words>
  <Application>Microsoft Office PowerPoint</Application>
  <PresentationFormat>宽屏</PresentationFormat>
  <Paragraphs>247</Paragraphs>
  <Slides>20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AiKen JY SI/DO</vt:lpstr>
      <vt:lpstr>PowerPoint 演示文稿</vt:lpstr>
      <vt:lpstr>PowerPoint 演示文稿</vt:lpstr>
      <vt:lpstr>PowerPoint 演示文稿</vt:lpstr>
      <vt:lpstr>SI 2：打造优秀的闭环体验</vt:lpstr>
      <vt:lpstr>PowerPoint 演示文稿</vt:lpstr>
      <vt:lpstr>PowerPoint 演示文稿</vt:lpstr>
      <vt:lpstr>市场与用户洞察</vt:lpstr>
      <vt:lpstr>复古经济与情绪价值双轮驱动</vt:lpstr>
      <vt:lpstr>核心目标人群</vt:lpstr>
      <vt:lpstr>核心目标人群</vt:lpstr>
      <vt:lpstr>核心使用场景</vt:lpstr>
      <vt:lpstr>产品定义</vt:lpstr>
      <vt:lpstr>一句话定义</vt:lpstr>
      <vt:lpstr>产品愿景与核心价值</vt:lpstr>
      <vt:lpstr>卖点一：无屏幕、过片结构，时尚便携潮玩</vt:lpstr>
      <vt:lpstr>卖点二：胶卷的仪式感和数码内核的便捷性</vt:lpstr>
      <vt:lpstr>卖点三：仿胶卷风格直出，叠加特效增加可玩性</vt:lpstr>
      <vt:lpstr>卖点四：按卷查看，二创拼贴分享</vt:lpstr>
      <vt:lpstr>竞品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3</cp:revision>
  <dcterms:created xsi:type="dcterms:W3CDTF">2026-10-19T03:05:34Z</dcterms:created>
  <dcterms:modified xsi:type="dcterms:W3CDTF">2026-10-27T02:54:28Z</dcterms:modified>
</cp:coreProperties>
</file>