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2296" cy="475488"/>
          </a:xfrm>
          <a:prstGeom prst="rect">
            <a:avLst/>
          </a:prstGeom>
          <a:solidFill>
            <a:srgbClr val="EC00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774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AiKen × 极印品牌战略对齐 </a:t>
            </a:r>
            <a:pPr algn="l" indent="0" marL="0">
              <a:buNone/>
            </a:pPr>
            <a:r>
              <a:rPr lang="en-US" sz="220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潮玩相机线，第一款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55280" y="27432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74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 · 第1页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50392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33101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97280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09728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品牌战略骨架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极印要成为什么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" y="1764792"/>
            <a:ext cx="0" cy="475488"/>
          </a:xfrm>
          <a:prstGeom prst="line">
            <a:avLst/>
          </a:prstGeom>
          <a:noFill/>
          <a:ln w="1905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71907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BRAND PURPOSE 品牌使命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3504" y="18653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让值得留下来的，真正留下来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" y="206654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洞察：记录越来越容易，真正留下越来越难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2064" y="2350008"/>
            <a:ext cx="0" cy="475488"/>
          </a:xfrm>
          <a:prstGeom prst="line">
            <a:avLst/>
          </a:prstGeom>
          <a:noFill/>
          <a:ln w="1905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30428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品牌原型 ARCHETYPE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3504" y="24505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Creator 创造者（主）× Jester 玩趣派（辅）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3504" y="2651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Creator 敢信敢下单 · Jester 敢玩玩上瘾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" y="2935224"/>
            <a:ext cx="0" cy="475488"/>
          </a:xfrm>
          <a:prstGeom prst="line">
            <a:avLst/>
          </a:prstGeom>
          <a:noFill/>
          <a:ln w="1905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88950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战略跃迁 STRATEGIC SHIFT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3504" y="30358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工具型 → 情绪型 → 创作型生活方式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" y="32369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打印机线立足工具型；AiKen 锚定情绪型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66928" y="3840480"/>
            <a:ext cx="658368" cy="237744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0160" y="3694176"/>
            <a:ext cx="658368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1993392" y="3547872"/>
            <a:ext cx="658368" cy="530352"/>
          </a:xfrm>
          <a:prstGeom prst="rect">
            <a:avLst/>
          </a:prstGeom>
          <a:solidFill>
            <a:srgbClr val="00C2C2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4048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工具型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80160" y="3694176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情绪型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993392" y="3547872"/>
            <a:ext cx="6583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7C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创作型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6928" y="41148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AiKen 跃迁先锋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5488" y="40965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9A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来源：《极印品牌战略与增长蓝图 v4》2026-08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246120" y="1005840"/>
            <a:ext cx="2743200" cy="33101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00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1097280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EC008C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109728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AiKen 的位置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55848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品牌架构：三大品类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55848" y="1755648"/>
            <a:ext cx="795528" cy="713232"/>
          </a:xfrm>
          <a:prstGeom prst="roundRect">
            <a:avLst>
              <a:gd name="adj" fmla="val 6410"/>
            </a:avLst>
          </a:prstGeom>
          <a:solidFill>
            <a:srgbClr val="FDF3F8"/>
          </a:solidFill>
          <a:ln w="22225">
            <a:solidFill>
              <a:srgbClr val="EC00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1828800"/>
            <a:ext cx="79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潮玩相机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55848" y="2029968"/>
            <a:ext cx="795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AiKen ¥599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首款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215384" y="1755648"/>
            <a:ext cx="79552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15384" y="1828800"/>
            <a:ext cx="79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照片打印机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15384" y="2029968"/>
            <a:ext cx="795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N1 ¥459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N3 ¥649  N2 ¥799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74920" y="1755648"/>
            <a:ext cx="79552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1828800"/>
            <a:ext cx="79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打印切割一体机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74920" y="2029968"/>
            <a:ext cx="795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S1 ¥1799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创意旗舰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55848" y="2624328"/>
            <a:ext cx="1170432" cy="603504"/>
          </a:xfrm>
          <a:prstGeom prst="roundRect">
            <a:avLst>
              <a:gd name="adj" fmla="val 6061"/>
            </a:avLst>
          </a:prstGeom>
          <a:solidFill>
            <a:srgbClr val="F7F7F7"/>
          </a:solidFill>
          <a:ln/>
        </p:spPr>
      </p:sp>
      <p:sp>
        <p:nvSpPr>
          <p:cNvPr id="45" name="Text 43"/>
          <p:cNvSpPr/>
          <p:nvPr/>
        </p:nvSpPr>
        <p:spPr>
          <a:xfrm>
            <a:off x="3374136" y="2651760"/>
            <a:ext cx="1133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AiKen 入口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18–30 潮流青年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认真拍下今天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44568" y="2734056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782312" y="2624328"/>
            <a:ext cx="1170432" cy="603504"/>
          </a:xfrm>
          <a:prstGeom prst="roundRect">
            <a:avLst>
              <a:gd name="adj" fmla="val 6061"/>
            </a:avLst>
          </a:prstGeom>
          <a:solidFill>
            <a:srgbClr val="F7F7F7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2651760"/>
            <a:ext cx="1133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极印生态承接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20–39 悦己氛围青年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值得的，做成作品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355848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价位无冲突：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AiKen ¥599 与 N3 ¥649 分属不同品类——卖「拍的仪式」vs 卖「印的便携」，货架陈列错位即可。
</a:t>
            </a:r>
            <a:pPr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人群无内耗：</a:t>
            </a:r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不碰「摄影摄像爱好者」（避开参数比较框架），该人群留给 N2/S1 承接。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26480" y="1005840"/>
            <a:ext cx="347472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6208" y="1097280"/>
            <a:ext cx="1143000" cy="237744"/>
          </a:xfrm>
          <a:prstGeom prst="roundRect">
            <a:avLst>
              <a:gd name="adj" fmla="val 11538"/>
            </a:avLst>
          </a:prstGeom>
          <a:solidFill>
            <a:srgbClr val="111111"/>
          </a:solidFill>
          <a:ln/>
        </p:spPr>
      </p:sp>
      <p:sp>
        <p:nvSpPr>
          <p:cNvPr id="52" name="Text 50"/>
          <p:cNvSpPr/>
          <p:nvPr/>
        </p:nvSpPr>
        <p:spPr>
          <a:xfrm>
            <a:off x="6236208" y="109728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· AiKen 如何加分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36208" y="1389888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五个对齐点：战略要求 ↔ AiKen 供给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236208" y="1737360"/>
            <a:ext cx="32552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1874520"/>
            <a:ext cx="192024" cy="19202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1874520"/>
            <a:ext cx="19202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583680" y="1764792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品牌原型的极致载体　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张限额·封卷 = Creator 认真创作；盲拍惊喜·开盲盒 = Jester 玩趣彩蛋。打印机线 Jester 偏弱，AiKen 是首个双核打满的产品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36208" y="2249424"/>
            <a:ext cx="32552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0" y="2386584"/>
            <a:ext cx="192024" cy="19202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0" name="Text 58"/>
          <p:cNvSpPr/>
          <p:nvPr/>
        </p:nvSpPr>
        <p:spPr>
          <a:xfrm>
            <a:off x="6309360" y="2386584"/>
            <a:ext cx="19202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583680" y="2276856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情绪型跃迁的活证据　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从第一天就是纯情绪产品（设备仪式感 × 内容情感密度），是极印「非工具叙事」的第一件作品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36208" y="2761488"/>
            <a:ext cx="32552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2898648"/>
            <a:ext cx="192024" cy="19202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4" name="Text 62"/>
          <p:cNvSpPr/>
          <p:nvPr/>
        </p:nvSpPr>
        <p:spPr>
          <a:xfrm>
            <a:off x="6309360" y="2898648"/>
            <a:ext cx="19202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83680" y="278892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核心人群的年轻入口　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18–30 更年轻入口段，先进圈 → 导入打印机生态，拉低品牌人群年龄中位数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36208" y="3273552"/>
            <a:ext cx="32552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0" y="3410712"/>
            <a:ext cx="192024" cy="19202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8" name="Text 66"/>
          <p:cNvSpPr/>
          <p:nvPr/>
        </p:nvSpPr>
        <p:spPr>
          <a:xfrm>
            <a:off x="6309360" y="3410712"/>
            <a:ext cx="19202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583680" y="3300984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创作闭环补全上游　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品牌闭环默认素材来自手机；AiKen 把「素材输入」仪式化——盲拍是高光的发现机制，与下游作品化无缝衔接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36208" y="3785616"/>
            <a:ext cx="325526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09360" y="3922776"/>
            <a:ext cx="192024" cy="192024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72" name="Text 70"/>
          <p:cNvSpPr/>
          <p:nvPr/>
        </p:nvSpPr>
        <p:spPr>
          <a:xfrm>
            <a:off x="6309360" y="3922776"/>
            <a:ext cx="19202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583680" y="3813048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团队能力的试验田　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练出的种草、内容与用户运营能力，全品牌长期复用（SI 第三点：锻炼 C 端潮玩打法）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65760" y="4425696"/>
            <a:ext cx="8503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2920" y="4507992"/>
            <a:ext cx="1883664" cy="402336"/>
          </a:xfrm>
          <a:prstGeom prst="roundRect">
            <a:avLst>
              <a:gd name="adj" fmla="val 11364"/>
            </a:avLst>
          </a:prstGeom>
          <a:solidFill>
            <a:srgbClr val="F7F7F7"/>
          </a:solidFill>
          <a:ln/>
        </p:spPr>
      </p:sp>
      <p:sp>
        <p:nvSpPr>
          <p:cNvPr id="76" name="Text 74"/>
          <p:cNvSpPr/>
          <p:nvPr/>
        </p:nvSpPr>
        <p:spPr>
          <a:xfrm>
            <a:off x="502920" y="4517136"/>
            <a:ext cx="1883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AiKen 主张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502920" y="4663440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「因为不知道，所以认真」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386584" y="457200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551176" y="4507992"/>
            <a:ext cx="1883664" cy="402336"/>
          </a:xfrm>
          <a:prstGeom prst="roundRect">
            <a:avLst>
              <a:gd name="adj" fmla="val 11364"/>
            </a:avLst>
          </a:prstGeom>
          <a:solidFill>
            <a:srgbClr val="FDF3F8"/>
          </a:solidFill>
          <a:ln/>
        </p:spPr>
      </p:sp>
      <p:sp>
        <p:nvSpPr>
          <p:cNvPr id="80" name="Text 78"/>
          <p:cNvSpPr/>
          <p:nvPr/>
        </p:nvSpPr>
        <p:spPr>
          <a:xfrm>
            <a:off x="2551176" y="4517136"/>
            <a:ext cx="1883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AiKen 行为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2551176" y="4663440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认真拍下今天（发现高光）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434840" y="457200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599432" y="4507992"/>
            <a:ext cx="1883664" cy="402336"/>
          </a:xfrm>
          <a:prstGeom prst="roundRect">
            <a:avLst>
              <a:gd name="adj" fmla="val 11364"/>
            </a:avLst>
          </a:prstGeom>
          <a:solidFill>
            <a:srgbClr val="111111"/>
          </a:solidFill>
          <a:ln/>
        </p:spPr>
      </p:sp>
      <p:sp>
        <p:nvSpPr>
          <p:cNvPr id="84" name="Text 82"/>
          <p:cNvSpPr/>
          <p:nvPr/>
        </p:nvSpPr>
        <p:spPr>
          <a:xfrm>
            <a:off x="4599432" y="4517136"/>
            <a:ext cx="1883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 CCI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4599432" y="4663440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「让今天值得留下来」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83096" y="457200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647688" y="4507992"/>
            <a:ext cx="1883664" cy="402336"/>
          </a:xfrm>
          <a:prstGeom prst="roundRect">
            <a:avLst>
              <a:gd name="adj" fmla="val 11364"/>
            </a:avLst>
          </a:prstGeom>
          <a:solidFill>
            <a:srgbClr val="F7F7F7"/>
          </a:solidFill>
          <a:ln/>
        </p:spPr>
      </p:sp>
      <p:sp>
        <p:nvSpPr>
          <p:cNvPr id="88" name="Text 86"/>
          <p:cNvSpPr/>
          <p:nvPr/>
        </p:nvSpPr>
        <p:spPr>
          <a:xfrm>
            <a:off x="6647688" y="4517136"/>
            <a:ext cx="1883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生态承接（不入 AiKen 话术）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6647688" y="4663440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值得的，做成作品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0292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C00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CCI 纪律：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AiKen 语境沿用「让今天值得留下来」，不使用「把高光极印成我」——规避「印 / 打印」联想，用词与 MessageHouse 联动微调。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2026-10-23T01:58:27Z</dcterms:created>
  <dcterms:modified xsi:type="dcterms:W3CDTF">2026-10-23T01:58:27Z</dcterms:modified>
</cp:coreProperties>
</file>